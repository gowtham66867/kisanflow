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Ground Level Credit</c:v>
                </c:pt>
              </c:strCache>
            </c:strRef>
          </c:tx>
          <c:spPr>
            <a:solidFill>
              <a:srgbClr val="C97A1A"/>
            </a:solidFill>
            <a:effectLst/>
          </c:spPr>
          <c:invertIfNegative val="0"/>
          <c:dLbls>
            <c:numFmt formatCode="&quot;₹&quot;0.0&quot;L cr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 2014-15</c:v>
                  </c:pt>
                  <c:pt idx="1">
                    <c:v>FY 2025-26 (target)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32.5</c:v>
                </c:pt>
              </c:numCache>
            </c:numRef>
          </c:val>
        </c:ser>
        <c:dLbls>
          <c:numFmt formatCode="&quot;₹&quot;0.0&quot;L cr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FEFE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Repayment capacity /100</c:v>
                </c:pt>
              </c:strCache>
            </c:strRef>
          </c:tx>
          <c:spPr>
            <a:solidFill>
              <a:srgbClr val="5C8A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242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Rice</c:v>
                  </c:pt>
                  <c:pt idx="1">
                    <c:v>Cotton</c:v>
                  </c:pt>
                  <c:pt idx="2">
                    <c:v>Wheat</c:v>
                  </c:pt>
                  <c:pt idx="3">
                    <c:v>Sugarcane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69</c:v>
                </c:pt>
                <c:pt idx="1">
                  <c:v>40</c:v>
                </c:pt>
                <c:pt idx="2">
                  <c:v>74</c:v>
                </c:pt>
                <c:pt idx="3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242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868680" cy="868680"/>
          </a:xfrm>
          <a:prstGeom prst="ellipse">
            <a:avLst/>
          </a:prstGeom>
          <a:solidFill>
            <a:srgbClr val="1F2E2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888" y="798728"/>
            <a:ext cx="642823" cy="6428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33172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KISANFLOW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548640" y="33375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Cash Flow Forecasting for Rural Credit Access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48640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F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NABARD application concept — agentic AI for credit-history-less farmers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6172200"/>
            <a:ext cx="0" cy="0"/>
          </a:xfrm>
          <a:prstGeom prst="line">
            <a:avLst/>
          </a:prstGeom>
          <a:noFill/>
          <a:ln w="12700">
            <a:solidFill>
              <a:srgbClr val="1F2E2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5989320"/>
            <a:ext cx="365760" cy="365760"/>
          </a:xfrm>
          <a:prstGeom prst="ellipse">
            <a:avLst/>
          </a:prstGeom>
          <a:solidFill>
            <a:srgbClr val="1F2E24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9" y="6036869"/>
            <a:ext cx="270662" cy="27066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05840" y="5989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github.com/gowtham66867/KisanFlow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Bankable farmers are invisible to formal credit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29000" cy="2788920"/>
          </a:xfrm>
          <a:prstGeom prst="roundRect">
            <a:avLst>
              <a:gd name="adj" fmla="val 3279"/>
            </a:avLst>
          </a:prstGeom>
          <a:solidFill>
            <a:srgbClr val="F5E7D0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548" y="2051548"/>
            <a:ext cx="487192" cy="487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74320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100M+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22960" y="338328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households lack formal credit history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97680" y="1691640"/>
            <a:ext cx="3429000" cy="2788920"/>
          </a:xfrm>
          <a:prstGeom prst="roundRect">
            <a:avLst>
              <a:gd name="adj" fmla="val 3279"/>
            </a:avLst>
          </a:prstGeom>
          <a:solidFill>
            <a:srgbClr val="F3DCD5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1965960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588" y="2051548"/>
            <a:ext cx="487192" cy="4871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0" y="274320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~28%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4572000" y="338328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agricultural credit still flows through informal moneylenders and traders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1691640"/>
            <a:ext cx="3429000" cy="2788920"/>
          </a:xfrm>
          <a:prstGeom prst="roundRect">
            <a:avLst>
              <a:gd name="adj" fmla="val 3279"/>
            </a:avLst>
          </a:prstGeom>
          <a:solidFill>
            <a:srgbClr val="E7EFE6"/>
          </a:solidFill>
          <a:ln/>
        </p:spPr>
      </p:sp>
      <p:sp>
        <p:nvSpPr>
          <p:cNvPr id="15" name="Shape 11"/>
          <p:cNvSpPr/>
          <p:nvPr/>
        </p:nvSpPr>
        <p:spPr>
          <a:xfrm>
            <a:off x="8321040" y="1965960"/>
            <a:ext cx="658368" cy="65836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6628" y="2051548"/>
            <a:ext cx="487192" cy="4871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1040" y="274320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 vs 17%</a:t>
            </a:r>
            <a:endParaRPr lang="en-US" sz="3000" dirty="0"/>
          </a:p>
        </p:txBody>
      </p:sp>
      <p:sp>
        <p:nvSpPr>
          <p:cNvPr id="18" name="Text 13"/>
          <p:cNvSpPr/>
          <p:nvPr/>
        </p:nvSpPr>
        <p:spPr>
          <a:xfrm>
            <a:off x="8321040" y="338328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gets 48% of ag credit on just 17% of cropped area — East ~8.2%, Central ~13.7%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48640" y="47091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gap: </a:t>
            </a:r>
            <a:pPr indent="0" marL="0">
              <a:buNone/>
            </a:pPr>
            <a:r>
              <a:rPr lang="en-US" sz="14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lenders fall back on manual field assessments or overly conservative scoring — rejecting bankable borrowers for lack of paperwork, not lack of repayment capacity.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NABARD, Trends and Patterns in Agriculture Credit in India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plug-in forecasting layer, not new field infrastructure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1206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KisanFlow is a B2B2C SaaS layer </a:t>
            </a:r>
            <a:pPr indent="0" marL="0">
              <a:buNone/>
            </a:pPr>
            <a:r>
              <a:rPr lang="en-US" sz="15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banks, NBFCs, microfinance institutions, and agri-fintechs (e.g. Samunnati, Jai Kisan, DeHaat) plug into their existing lending workflow via API.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51206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forecasts a borrower's monthly cash flow from alternative signals </a:t>
            </a:r>
            <a:pPr indent="0" marL="0">
              <a:buNone/>
            </a:pPr>
            <a:r>
              <a:rPr lang="en-US" sz="15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weather, mandi prices, transaction history — </a:t>
            </a:r>
            <a:pPr indent="0" marL="0">
              <a:buNone/>
            </a:pPr>
            <a:r>
              <a:rPr lang="en-US" sz="15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outputs a plain-language recommendation for both the lender and the farmer.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173736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E7EFE6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0" y="1947672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4010" y="2030882"/>
            <a:ext cx="473659" cy="47365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78040" y="1737360"/>
            <a:ext cx="4297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· NBFCs · MFIs · Agri-fintechs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906256" y="2788920"/>
            <a:ext cx="18288" cy="457200"/>
          </a:xfrm>
          <a:prstGeom prst="line">
            <a:avLst/>
          </a:prstGeom>
          <a:noFill/>
          <a:ln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172200" y="324612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4463B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0" y="3451860"/>
            <a:ext cx="640080" cy="640080"/>
          </a:xfrm>
          <a:prstGeom prst="ellipse">
            <a:avLst/>
          </a:prstGeom>
          <a:solidFill>
            <a:srgbClr val="1F2E24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010" y="3535070"/>
            <a:ext cx="473659" cy="47365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3246120"/>
            <a:ext cx="4297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KisanFlow — five-agent forecasting API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906256" y="4297680"/>
            <a:ext cx="18288" cy="457200"/>
          </a:xfrm>
          <a:prstGeom prst="line">
            <a:avLst/>
          </a:prstGeom>
          <a:noFill/>
          <a:ln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172200" y="47548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F5E7D0"/>
          </a:solidFill>
          <a:ln/>
        </p:spPr>
      </p:sp>
      <p:sp>
        <p:nvSpPr>
          <p:cNvPr id="17" name="Shape 13"/>
          <p:cNvSpPr/>
          <p:nvPr/>
        </p:nvSpPr>
        <p:spPr>
          <a:xfrm>
            <a:off x="6400800" y="49606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010" y="5043830"/>
            <a:ext cx="473659" cy="47365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178040" y="4754880"/>
            <a:ext cx="4297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— plain-language buffer &amp; timing advice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revenue lines into a fast-growing credit pipe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66928" cy="566928"/>
          </a:xfrm>
          <a:prstGeom prst="ellipse">
            <a:avLst/>
          </a:prstGeom>
          <a:solidFill>
            <a:srgbClr val="F5E7D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1765341"/>
            <a:ext cx="419527" cy="4195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6733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Per-assessment pricing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280160" y="2002536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Per-API-call fee for lenders — priced like a credit bureau check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566928" cy="566928"/>
          </a:xfrm>
          <a:prstGeom prst="ellipse">
            <a:avLst/>
          </a:prstGeom>
          <a:solidFill>
            <a:srgbClr val="F5E7D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341" y="2679741"/>
            <a:ext cx="419527" cy="41952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25877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SaaS subscription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280160" y="2916936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NBFCs / MFIs, scaled to borrower volume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520440"/>
            <a:ext cx="566928" cy="566928"/>
          </a:xfrm>
          <a:prstGeom prst="ellipse">
            <a:avLst/>
          </a:prstGeom>
          <a:solidFill>
            <a:srgbClr val="F5E7D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41" y="3594141"/>
            <a:ext cx="419527" cy="41952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35021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Revenue-share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280160" y="3831336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agri-fintech platforms who white-label the engine into their own farmer apps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72200" y="169164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16231D"/>
          </a:solidFill>
          <a:ln/>
        </p:spPr>
      </p:sp>
      <p:sp>
        <p:nvSpPr>
          <p:cNvPr id="17" name="Text 12"/>
          <p:cNvSpPr/>
          <p:nvPr/>
        </p:nvSpPr>
        <p:spPr>
          <a:xfrm>
            <a:off x="6492240" y="18745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LEVEL CREDIT — INSTITUTIONAL AGRI-CREDIT FLOW</a:t>
            </a:r>
            <a:endParaRPr lang="en-US" sz="105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6492240" y="2286000"/>
          <a:ext cx="48463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 13"/>
          <p:cNvSpPr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with RBI / NABARD's push toward alternative-data credit scoring and financial inclusion — this is policy-aligned infrastructure, not a standalone product.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Finance / NABARD Ground Level Credit targets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Orchestrator routes each borrower dynamically — not a fixed script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718304" y="1691640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C97A1A"/>
          </a:solidFill>
          <a:ln/>
        </p:spPr>
      </p:sp>
      <p:sp>
        <p:nvSpPr>
          <p:cNvPr id="5" name="Text 3"/>
          <p:cNvSpPr/>
          <p:nvPr/>
        </p:nvSpPr>
        <p:spPr>
          <a:xfrm>
            <a:off x="4718304" y="169164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1089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F2E24"/>
          </a:solidFill>
          <a:ln w="12700">
            <a:solidFill>
              <a:srgbClr val="C97A1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7612" y="3310128"/>
            <a:ext cx="585216" cy="585216"/>
          </a:xfrm>
          <a:prstGeom prst="ellipse">
            <a:avLst/>
          </a:prstGeom>
          <a:solidFill>
            <a:srgbClr val="16231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690" y="3386206"/>
            <a:ext cx="433060" cy="4330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39776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Agent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1760220" y="2468880"/>
            <a:ext cx="914" cy="640080"/>
          </a:xfrm>
          <a:prstGeom prst="line">
            <a:avLst/>
          </a:prstGeom>
          <a:noFill/>
          <a:ln w="15875">
            <a:solidFill>
              <a:srgbClr val="C97A1A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944368" y="31089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F2E24"/>
          </a:solidFill>
          <a:ln w="12700">
            <a:solidFill>
              <a:srgbClr val="C97A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34740" y="3310128"/>
            <a:ext cx="585216" cy="585216"/>
          </a:xfrm>
          <a:prstGeom prst="ellipse">
            <a:avLst/>
          </a:prstGeom>
          <a:solidFill>
            <a:srgbClr val="16231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818" y="3386206"/>
            <a:ext cx="433060" cy="4330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944368" y="39776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927348" y="2468880"/>
            <a:ext cx="914" cy="640080"/>
          </a:xfrm>
          <a:prstGeom prst="line">
            <a:avLst/>
          </a:prstGeom>
          <a:noFill/>
          <a:ln w="15875">
            <a:solidFill>
              <a:srgbClr val="C97A1A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5111496" y="31089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F2E24"/>
          </a:solidFill>
          <a:ln w="12700">
            <a:solidFill>
              <a:srgbClr val="C97A1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801868" y="3310128"/>
            <a:ext cx="585216" cy="585216"/>
          </a:xfrm>
          <a:prstGeom prst="ellipse">
            <a:avLst/>
          </a:prstGeom>
          <a:solidFill>
            <a:srgbClr val="16231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7946" y="3386206"/>
            <a:ext cx="433060" cy="4330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11496" y="39776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094476" y="2468880"/>
            <a:ext cx="914" cy="640080"/>
          </a:xfrm>
          <a:prstGeom prst="line">
            <a:avLst/>
          </a:prstGeom>
          <a:noFill/>
          <a:ln w="15875">
            <a:solidFill>
              <a:srgbClr val="C97A1A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7278624" y="31089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F2E24"/>
          </a:solidFill>
          <a:ln w="12700">
            <a:solidFill>
              <a:srgbClr val="C97A1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968996" y="3310128"/>
            <a:ext cx="585216" cy="585216"/>
          </a:xfrm>
          <a:prstGeom prst="ellipse">
            <a:avLst/>
          </a:prstGeom>
          <a:solidFill>
            <a:srgbClr val="16231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5074" y="3386206"/>
            <a:ext cx="433060" cy="4330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78624" y="39776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Router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8261604" y="2468880"/>
            <a:ext cx="914" cy="640080"/>
          </a:xfrm>
          <a:prstGeom prst="line">
            <a:avLst/>
          </a:prstGeom>
          <a:noFill/>
          <a:ln w="15875">
            <a:solidFill>
              <a:srgbClr val="C97A1A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9445752" y="310896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F2E24"/>
          </a:solidFill>
          <a:ln w="12700">
            <a:solidFill>
              <a:srgbClr val="C97A1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0136124" y="3310128"/>
            <a:ext cx="585216" cy="585216"/>
          </a:xfrm>
          <a:prstGeom prst="ellipse">
            <a:avLst/>
          </a:prstGeom>
          <a:solidFill>
            <a:srgbClr val="16231D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2202" y="3386206"/>
            <a:ext cx="433060" cy="4330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445752" y="39776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10428732" y="2468880"/>
            <a:ext cx="914" cy="640080"/>
          </a:xfrm>
          <a:prstGeom prst="line">
            <a:avLst/>
          </a:prstGeom>
          <a:noFill/>
          <a:ln w="15875">
            <a:solidFill>
              <a:srgbClr val="C97A1A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4631436" y="5074920"/>
            <a:ext cx="2926080" cy="777240"/>
          </a:xfrm>
          <a:prstGeom prst="roundRect">
            <a:avLst>
              <a:gd name="adj" fmla="val 11765"/>
            </a:avLst>
          </a:prstGeom>
          <a:solidFill>
            <a:srgbClr val="1F2E24"/>
          </a:solidFill>
          <a:ln w="12700">
            <a:solidFill>
              <a:srgbClr val="5C8A62"/>
            </a:solidFill>
            <a:prstDash val="dash"/>
          </a:ln>
        </p:spPr>
      </p:sp>
      <p:sp>
        <p:nvSpPr>
          <p:cNvPr id="32" name="Shape 25"/>
          <p:cNvSpPr/>
          <p:nvPr/>
        </p:nvSpPr>
        <p:spPr>
          <a:xfrm>
            <a:off x="4759452" y="5193792"/>
            <a:ext cx="548640" cy="548640"/>
          </a:xfrm>
          <a:prstGeom prst="ellipse">
            <a:avLst/>
          </a:prstGeom>
          <a:solidFill>
            <a:srgbClr val="16231D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0775" y="5265115"/>
            <a:ext cx="405994" cy="40599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408676" y="507492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Agent — returning borrowers</a:t>
            </a:r>
            <a:endParaRPr lang="en-US" sz="1050" dirty="0"/>
          </a:p>
        </p:txBody>
      </p:sp>
      <p:sp>
        <p:nvSpPr>
          <p:cNvPr id="35" name="Shape 27"/>
          <p:cNvSpPr/>
          <p:nvPr/>
        </p:nvSpPr>
        <p:spPr>
          <a:xfrm>
            <a:off x="6094476" y="4709160"/>
            <a:ext cx="914" cy="365760"/>
          </a:xfrm>
          <a:prstGeom prst="line">
            <a:avLst/>
          </a:prstGeom>
          <a:noFill/>
          <a:ln w="15875">
            <a:solidFill>
              <a:srgbClr val="5C8A62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stages, one visible reasoning trace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E7EFE6"/>
          </a:solidFill>
          <a:ln/>
        </p:spPr>
      </p:sp>
      <p:sp>
        <p:nvSpPr>
          <p:cNvPr id="5" name="Shape 3"/>
          <p:cNvSpPr/>
          <p:nvPr/>
        </p:nvSpPr>
        <p:spPr>
          <a:xfrm>
            <a:off x="1280160" y="2221992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0993" y="2302825"/>
            <a:ext cx="460126" cy="46012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971800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Data Agent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13232" y="3447288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tool calls — get_weather(), get_mandi_price(), get_transaction_history() — logging skips, never silent defaults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33472" y="3474720"/>
            <a:ext cx="164592" cy="914"/>
          </a:xfrm>
          <a:prstGeom prst="line">
            <a:avLst/>
          </a:prstGeom>
          <a:noFill/>
          <a:ln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798064" y="196596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E7EFE6"/>
          </a:solidFill>
          <a:ln/>
        </p:spPr>
      </p:sp>
      <p:sp>
        <p:nvSpPr>
          <p:cNvPr id="11" name="Shape 8"/>
          <p:cNvSpPr/>
          <p:nvPr/>
        </p:nvSpPr>
        <p:spPr>
          <a:xfrm>
            <a:off x="3529584" y="2221992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0417" y="2302825"/>
            <a:ext cx="460126" cy="46012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935224" y="2971800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Forecasting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2962656" y="3447288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12-month cash flow, finds the pre-harvest deficit window, scores repayment capacity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882896" y="3474720"/>
            <a:ext cx="164592" cy="914"/>
          </a:xfrm>
          <a:prstGeom prst="line">
            <a:avLst/>
          </a:prstGeom>
          <a:noFill/>
          <a:ln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5047488" y="196596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F3DCD5"/>
          </a:solidFill>
          <a:ln/>
        </p:spPr>
      </p:sp>
      <p:sp>
        <p:nvSpPr>
          <p:cNvPr id="17" name="Shape 13"/>
          <p:cNvSpPr/>
          <p:nvPr/>
        </p:nvSpPr>
        <p:spPr>
          <a:xfrm>
            <a:off x="5779008" y="2221992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841" y="2302825"/>
            <a:ext cx="460126" cy="46012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84648" y="2971800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Verifier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212080" y="3447288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Self-checks the forecast against a sanity band — can REJECT it and force a conservative fallback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7132320" y="3474720"/>
            <a:ext cx="164592" cy="914"/>
          </a:xfrm>
          <a:prstGeom prst="line">
            <a:avLst/>
          </a:prstGeom>
          <a:noFill/>
          <a:ln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7296912" y="196596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E7EFE6"/>
          </a:solidFill>
          <a:ln/>
        </p:spPr>
      </p:sp>
      <p:sp>
        <p:nvSpPr>
          <p:cNvPr id="23" name="Shape 18"/>
          <p:cNvSpPr/>
          <p:nvPr/>
        </p:nvSpPr>
        <p:spPr>
          <a:xfrm>
            <a:off x="8028432" y="2221992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9265" y="2302825"/>
            <a:ext cx="460126" cy="46012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434072" y="2971800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Confidence Router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7461504" y="3447288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+ high confidence → auto-approved API call. Fail or thin data → always a human loan officer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9381744" y="3474720"/>
            <a:ext cx="164592" cy="914"/>
          </a:xfrm>
          <a:prstGeom prst="line">
            <a:avLst/>
          </a:prstGeom>
          <a:noFill/>
          <a:ln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9546336" y="1965960"/>
            <a:ext cx="2084832" cy="3291840"/>
          </a:xfrm>
          <a:prstGeom prst="roundRect">
            <a:avLst>
              <a:gd name="adj" fmla="val 3947"/>
            </a:avLst>
          </a:prstGeom>
          <a:solidFill>
            <a:srgbClr val="E7EFE6"/>
          </a:solidFill>
          <a:ln/>
        </p:spPr>
      </p:sp>
      <p:sp>
        <p:nvSpPr>
          <p:cNvPr id="29" name="Shape 23"/>
          <p:cNvSpPr/>
          <p:nvPr/>
        </p:nvSpPr>
        <p:spPr>
          <a:xfrm>
            <a:off x="10277856" y="2221992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8689" y="2302825"/>
            <a:ext cx="460126" cy="46012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683496" y="2971800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Advisory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9710928" y="3447288"/>
            <a:ext cx="175564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Retrieval-grounded output for lender and farmer, citing the exact region/crop notes used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GENUINELY AGENTIC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an LLM wrapper — a system with real safety mechanics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66928" cy="566928"/>
          </a:xfrm>
          <a:prstGeom prst="ellipse">
            <a:avLst/>
          </a:prstGeom>
          <a:solidFill>
            <a:srgbClr val="F5E7D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2341" y="1765341"/>
            <a:ext cx="419527" cy="4195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6642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orchestration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80160" y="2020824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changes for new vs. returning borrowers — not a fixed script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7920" y="1691640"/>
            <a:ext cx="566928" cy="566928"/>
          </a:xfrm>
          <a:prstGeom prst="ellipse">
            <a:avLst/>
          </a:prstGeom>
          <a:solidFill>
            <a:srgbClr val="F5E7D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621" y="1765341"/>
            <a:ext cx="419527" cy="41952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49440" y="16642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Explicit, auditable tool calls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949440" y="2020824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visible reasoning trace, not a black box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291840"/>
            <a:ext cx="566928" cy="566928"/>
          </a:xfrm>
          <a:prstGeom prst="ellipse">
            <a:avLst/>
          </a:prstGeom>
          <a:solidFill>
            <a:srgbClr val="F5E7D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41" y="3365541"/>
            <a:ext cx="419527" cy="41952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32644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Self-verification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80160" y="3621024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can reject another agent's own output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217920" y="3291840"/>
            <a:ext cx="566928" cy="566928"/>
          </a:xfrm>
          <a:prstGeom prst="ellipse">
            <a:avLst/>
          </a:prstGeom>
          <a:solidFill>
            <a:srgbClr val="F5E7D0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621" y="3365541"/>
            <a:ext cx="419527" cy="41952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32644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fallback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949440" y="3621024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designed safety net for low-confidence situations — critical in lending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48640" y="4892040"/>
            <a:ext cx="566928" cy="566928"/>
          </a:xfrm>
          <a:prstGeom prst="ellipse">
            <a:avLst/>
          </a:prstGeom>
          <a:solidFill>
            <a:srgbClr val="F5E7D0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41" y="4965741"/>
            <a:ext cx="419527" cy="41952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80160" y="48646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1280160" y="5221224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Cross-season repayment history compounds into future trust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6217920" y="4892040"/>
            <a:ext cx="566928" cy="566928"/>
          </a:xfrm>
          <a:prstGeom prst="ellipse">
            <a:avLst/>
          </a:prstGeom>
          <a:solidFill>
            <a:srgbClr val="F5E7D0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621" y="4965741"/>
            <a:ext cx="419527" cy="419527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949440" y="48646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Retrieval-grounded output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6949440" y="5221224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advice cites specific retrieved notes, not free-generated text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REAL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crop economics, not invented numbers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7EFE6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828800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2258568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q/acre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606040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₹2,369/qtl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2971800"/>
            <a:ext cx="227685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Cost of Cultivation &amp; Kharif MSP 2024-25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19272" y="16916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7EFE6"/>
          </a:solidFill>
          <a:ln/>
        </p:spPr>
      </p:sp>
      <p:sp>
        <p:nvSpPr>
          <p:cNvPr id="10" name="Text 8"/>
          <p:cNvSpPr/>
          <p:nvPr/>
        </p:nvSpPr>
        <p:spPr>
          <a:xfrm>
            <a:off x="3483864" y="1828800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83864" y="2258568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q/acre (kapas)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83864" y="2606040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₹7,710/qtl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83864" y="2971800"/>
            <a:ext cx="227685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USDA/CAI yield &amp; Kharif MSP 2024-25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089904" y="16916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E7EFE6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828800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Wheat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54496" y="2258568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q/acre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54496" y="2606040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₹2,275/qtl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54496" y="2971800"/>
            <a:ext cx="227685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Survey yield table &amp; RMS 2024-25 MSP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860536" y="16916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3DCD5"/>
          </a:solidFill>
          <a:ln/>
        </p:spPr>
      </p:sp>
      <p:sp>
        <p:nvSpPr>
          <p:cNvPr id="20" name="Text 18"/>
          <p:cNvSpPr/>
          <p:nvPr/>
        </p:nvSpPr>
        <p:spPr>
          <a:xfrm>
            <a:off x="9025128" y="1828800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Sugarcane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25128" y="2258568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 q/acre*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025128" y="2606040"/>
            <a:ext cx="22768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~₹340/qtl*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25128" y="2971800"/>
            <a:ext cx="227685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*approximate, flagged as unconfirmed in-product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48640" y="3794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REPAYMENT-CAPACITY SCORE BY CROP (3 acres, same land size)</a:t>
            </a:r>
            <a:endParaRPr lang="en-US" sz="105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548640" y="4114800"/>
          <a:ext cx="1106424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WORKING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entire five-agent pipeline runs today — not a mockup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10160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7452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FA8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ORCHESTRATOR · LIVE REASONING TRACE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7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[orchestrator] </a:t>
            </a:r>
            <a:pPr indent="0" marL="0">
              <a:buNone/>
            </a:pPr>
            <a:r>
              <a:rPr lang="en-US" sz="1100" dirty="0">
                <a:solidFill>
                  <a:srgbClr val="D7E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= new_borrower → planning route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67004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7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[data_agent] </a:t>
            </a:r>
            <a:pPr indent="0" marL="0">
              <a:buNone/>
            </a:pPr>
            <a:r>
              <a:rPr lang="en-US" sz="1100" dirty="0">
                <a:solidFill>
                  <a:srgbClr val="7FB3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tool_call get_weather() → ok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054096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7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[data_agent] </a:t>
            </a:r>
            <a:pPr indent="0" marL="0">
              <a:buNone/>
            </a:pPr>
            <a:r>
              <a:rPr lang="en-US" sz="1100" dirty="0">
                <a:solidFill>
                  <a:srgbClr val="7FB3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tool_call get_mandi_price() → ok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438144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7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[data_agent] </a:t>
            </a:r>
            <a:pPr indent="0" marL="0">
              <a:buNone/>
            </a:pPr>
            <a:r>
              <a:rPr lang="en-US" sz="1100" dirty="0">
                <a:solidFill>
                  <a:srgbClr val="DE7A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tool_call get_transaction_history() → SKIPPED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3822192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7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[forecasting_agent] </a:t>
            </a:r>
            <a:pPr indent="0" marL="0">
              <a:buNone/>
            </a:pPr>
            <a:r>
              <a:rPr lang="en-US" sz="1100" dirty="0">
                <a:solidFill>
                  <a:srgbClr val="D7E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repayment_capacity_score = 69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42062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7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[verifier_agent] </a:t>
            </a:r>
            <a:pPr indent="0" marL="0">
              <a:buNone/>
            </a:pPr>
            <a:r>
              <a:rPr lang="en-US" sz="1100" dirty="0">
                <a:solidFill>
                  <a:srgbClr val="7FB3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sanity_check PASS — confidence(75) in band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459028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7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[confidence_router] </a:t>
            </a:r>
            <a:pPr indent="0" marL="0">
              <a:buNone/>
            </a:pPr>
            <a:r>
              <a:rPr lang="en-US" sz="1100" dirty="0">
                <a:solidFill>
                  <a:srgbClr val="7FB3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score=75 → AUTO_APPROVE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974336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7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[advisory_agent] </a:t>
            </a:r>
            <a:pPr indent="0" marL="0">
              <a:buNone/>
            </a:pPr>
            <a:r>
              <a:rPr lang="en-US" sz="1100" dirty="0">
                <a:solidFill>
                  <a:srgbClr val="D7E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retrieve(region, crop) → 2 grounding notes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60920" y="1737360"/>
            <a:ext cx="384048" cy="384048"/>
          </a:xfrm>
          <a:prstGeom prst="ellipse">
            <a:avLst/>
          </a:prstGeom>
          <a:solidFill>
            <a:srgbClr val="1F2E24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0846" y="1787286"/>
            <a:ext cx="284196" cy="28419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863840" y="16916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crop, region, land size, loan amount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63840" y="202996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F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watch forecast, confidence, and advisory update in real time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60920" y="2697480"/>
            <a:ext cx="384048" cy="384048"/>
          </a:xfrm>
          <a:prstGeom prst="ellipse">
            <a:avLst/>
          </a:prstGeom>
          <a:solidFill>
            <a:srgbClr val="1F2E24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846" y="2747406"/>
            <a:ext cx="284196" cy="28419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8638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available data signals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863840" y="299008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F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watch the Verifier + Router respond — including live guardrail fallback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360920" y="3657600"/>
            <a:ext cx="384048" cy="384048"/>
          </a:xfrm>
          <a:prstGeom prst="ellipse">
            <a:avLst/>
          </a:prstGeom>
          <a:solidFill>
            <a:srgbClr val="1F2E24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846" y="3707526"/>
            <a:ext cx="284196" cy="2841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863840" y="36118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and tool call is visible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7863840" y="3950208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F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reasoning trace as it happens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7360920" y="4709160"/>
            <a:ext cx="4279392" cy="777240"/>
          </a:xfrm>
          <a:prstGeom prst="roundRect">
            <a:avLst>
              <a:gd name="adj" fmla="val 9412"/>
            </a:avLst>
          </a:prstGeom>
          <a:solidFill>
            <a:srgbClr val="C97A1A"/>
          </a:solidFill>
          <a:ln/>
        </p:spPr>
      </p:sp>
      <p:sp>
        <p:nvSpPr>
          <p:cNvPr id="27" name="Shape 22"/>
          <p:cNvSpPr/>
          <p:nvPr/>
        </p:nvSpPr>
        <p:spPr>
          <a:xfrm>
            <a:off x="7543800" y="4901184"/>
            <a:ext cx="402336" cy="402336"/>
          </a:xfrm>
          <a:prstGeom prst="ellipse">
            <a:avLst/>
          </a:prstGeom>
          <a:solidFill>
            <a:srgbClr val="C97A1A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6104" y="4953488"/>
            <a:ext cx="297729" cy="297729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046720" y="470916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github.com/gowtham66867/KisanFlow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62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demo/kisanflow_demo.html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today vs. what's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E7EFE6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060" y="1985620"/>
            <a:ext cx="372161" cy="37216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659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today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Five-agent architecture with dynamic orchestration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3264408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Guardrail safety logic (Verifier can reject its own forecast)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3922776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Real, government-sourced crop economics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8680" y="4581144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 fully working, interactive demo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172200" y="169164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F3DCD5"/>
          </a:solidFill>
          <a:ln/>
        </p:spPr>
      </p:sp>
      <p:sp>
        <p:nvSpPr>
          <p:cNvPr id="13" name="Shape 10"/>
          <p:cNvSpPr/>
          <p:nvPr/>
        </p:nvSpPr>
        <p:spPr>
          <a:xfrm>
            <a:off x="6492240" y="19202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620" y="1985620"/>
            <a:ext cx="372161" cy="37216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132320" y="19659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done — on purpose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492240" y="2606040"/>
            <a:ext cx="4892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Weather/mandi/UPI signals are simulated toggles, not live API calls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492240" y="3383280"/>
            <a:ext cx="4892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Confidence score isn't yet backtested against real repayment outcomes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92240" y="4160520"/>
            <a:ext cx="4892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Figures are national averages, not one farmer's actual plot history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transparency is deliberate — a lending-adjacent tool that can't show its assumptions is harder to trust than one that states plainly what's verified vs. estimated.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phases from prototype to pilot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531620" y="1645920"/>
            <a:ext cx="640080" cy="640080"/>
          </a:xfrm>
          <a:prstGeom prst="ellipse">
            <a:avLst/>
          </a:prstGeom>
          <a:solidFill>
            <a:srgbClr val="24463B"/>
          </a:solidFill>
          <a:ln/>
        </p:spPr>
      </p:sp>
      <p:sp>
        <p:nvSpPr>
          <p:cNvPr id="5" name="Text 3"/>
          <p:cNvSpPr/>
          <p:nvPr/>
        </p:nvSpPr>
        <p:spPr>
          <a:xfrm>
            <a:off x="153162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E7EFE6"/>
          </a:solidFill>
          <a:ln/>
        </p:spPr>
      </p:sp>
      <p:sp>
        <p:nvSpPr>
          <p:cNvPr id="7" name="Shape 5"/>
          <p:cNvSpPr/>
          <p:nvPr/>
        </p:nvSpPr>
        <p:spPr>
          <a:xfrm>
            <a:off x="1568196" y="237744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897" y="2451141"/>
            <a:ext cx="419527" cy="41952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3063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3474720"/>
            <a:ext cx="22402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one live data source (Agmarknet or OpenWeather) for one crop-region pair — replace the toggle simulation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154680" y="3749040"/>
            <a:ext cx="201168" cy="914"/>
          </a:xfrm>
          <a:prstGeom prst="line">
            <a:avLst/>
          </a:prstGeom>
          <a:noFill/>
          <a:ln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338828" y="1645920"/>
            <a:ext cx="640080" cy="640080"/>
          </a:xfrm>
          <a:prstGeom prst="ellipse">
            <a:avLst/>
          </a:prstGeom>
          <a:solidFill>
            <a:srgbClr val="24463B"/>
          </a:solidFill>
          <a:ln/>
        </p:spPr>
      </p:sp>
      <p:sp>
        <p:nvSpPr>
          <p:cNvPr id="13" name="Text 10"/>
          <p:cNvSpPr/>
          <p:nvPr/>
        </p:nvSpPr>
        <p:spPr>
          <a:xfrm>
            <a:off x="4338828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3355848" y="210312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E7EFE6"/>
          </a:solidFill>
          <a:ln/>
        </p:spPr>
      </p:sp>
      <p:sp>
        <p:nvSpPr>
          <p:cNvPr id="15" name="Shape 12"/>
          <p:cNvSpPr/>
          <p:nvPr/>
        </p:nvSpPr>
        <p:spPr>
          <a:xfrm>
            <a:off x="4375404" y="237744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9105" y="2451141"/>
            <a:ext cx="419527" cy="41952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93008" y="3063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3538728" y="3474720"/>
            <a:ext cx="22402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one lender to backtest the confidence score against real historical repayment data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961888" y="3749040"/>
            <a:ext cx="201168" cy="914"/>
          </a:xfrm>
          <a:prstGeom prst="line">
            <a:avLst/>
          </a:prstGeom>
          <a:noFill/>
          <a:ln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7146036" y="1645920"/>
            <a:ext cx="640080" cy="640080"/>
          </a:xfrm>
          <a:prstGeom prst="ellipse">
            <a:avLst/>
          </a:prstGeom>
          <a:solidFill>
            <a:srgbClr val="24463B"/>
          </a:solidFill>
          <a:ln/>
        </p:spPr>
      </p:sp>
      <p:sp>
        <p:nvSpPr>
          <p:cNvPr id="21" name="Text 17"/>
          <p:cNvSpPr/>
          <p:nvPr/>
        </p:nvSpPr>
        <p:spPr>
          <a:xfrm>
            <a:off x="7146036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6163056" y="210312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E7EFE6"/>
          </a:solidFill>
          <a:ln/>
        </p:spPr>
      </p:sp>
      <p:sp>
        <p:nvSpPr>
          <p:cNvPr id="23" name="Shape 19"/>
          <p:cNvSpPr/>
          <p:nvPr/>
        </p:nvSpPr>
        <p:spPr>
          <a:xfrm>
            <a:off x="7182612" y="237744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6313" y="2451141"/>
            <a:ext cx="419527" cy="419527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00216" y="3063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6345936" y="3474720"/>
            <a:ext cx="22402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agri-fintech partner (NBFC or MFI) on a live borrower cohort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769096" y="3749040"/>
            <a:ext cx="201168" cy="914"/>
          </a:xfrm>
          <a:prstGeom prst="line">
            <a:avLst/>
          </a:prstGeom>
          <a:noFill/>
          <a:ln w="19050">
            <a:solidFill>
              <a:srgbClr val="5C6B60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9953244" y="1645920"/>
            <a:ext cx="640080" cy="640080"/>
          </a:xfrm>
          <a:prstGeom prst="ellipse">
            <a:avLst/>
          </a:prstGeom>
          <a:solidFill>
            <a:srgbClr val="24463B"/>
          </a:solidFill>
          <a:ln/>
        </p:spPr>
      </p:sp>
      <p:sp>
        <p:nvSpPr>
          <p:cNvPr id="29" name="Text 24"/>
          <p:cNvSpPr/>
          <p:nvPr/>
        </p:nvSpPr>
        <p:spPr>
          <a:xfrm>
            <a:off x="9953244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8970264" y="210312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E7EFE6"/>
          </a:solidFill>
          <a:ln/>
        </p:spPr>
      </p:sp>
      <p:sp>
        <p:nvSpPr>
          <p:cNvPr id="31" name="Shape 26"/>
          <p:cNvSpPr/>
          <p:nvPr/>
        </p:nvSpPr>
        <p:spPr>
          <a:xfrm>
            <a:off x="9989820" y="237744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63521" y="2451141"/>
            <a:ext cx="419527" cy="419527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107424" y="3063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9153144" y="3474720"/>
            <a:ext cx="22402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beyond agriculture — gig workers, small traders, rural artisans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868680" cy="868680"/>
          </a:xfrm>
          <a:prstGeom prst="ellipse">
            <a:avLst/>
          </a:prstGeom>
          <a:solidFill>
            <a:srgbClr val="1F2E2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888" y="798728"/>
            <a:ext cx="642823" cy="6428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alternative data into trustworthy credit decisions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548640" y="32461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100 million+ Indian farming households formal lending still can't see.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42976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F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5989320"/>
            <a:ext cx="365760" cy="365760"/>
          </a:xfrm>
          <a:prstGeom prst="ellipse">
            <a:avLst/>
          </a:prstGeom>
          <a:solidFill>
            <a:srgbClr val="1F2E2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9" y="6036869"/>
            <a:ext cx="270662" cy="27066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5989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github.com/gowtham66867/KisanFlow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2026-07-20T17:53:01Z</dcterms:created>
  <dcterms:modified xsi:type="dcterms:W3CDTF">2026-07-20T17:53:01Z</dcterms:modified>
</cp:coreProperties>
</file>