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2c6405edf34d58" /><Relationship Type="http://schemas.openxmlformats.org/officeDocument/2006/relationships/extended-properties" Target="/docProps/app.xml" Id="R0ceab8777987449a" /><Relationship Type="http://schemas.openxmlformats.org/officeDocument/2006/relationships/officeDocument" Target="/ppt/presentation.xml" Id="R2aa5c88279524f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e9a8b4677e4ee2"/>
  </p:sldMasterIdLst>
  <p:notesMasterIdLst>
    <p:notesMasterId xmlns:r="http://schemas.openxmlformats.org/officeDocument/2006/relationships" r:id="R5ddce4a4560d423b"/>
  </p:notesMasterIdLst>
  <p:sldIdLst>
    <p:sldId xmlns:r="http://schemas.openxmlformats.org/officeDocument/2006/relationships" id="256" r:id="R11d464bbbad94ce6"/>
    <p:sldId xmlns:r="http://schemas.openxmlformats.org/officeDocument/2006/relationships" id="257" r:id="R42cc41518cfd4d56"/>
    <p:sldId xmlns:r="http://schemas.openxmlformats.org/officeDocument/2006/relationships" id="258" r:id="R092a9fb7a49648bb"/>
    <p:sldId xmlns:r="http://schemas.openxmlformats.org/officeDocument/2006/relationships" id="259" r:id="Rb1a92778df4943ed"/>
    <p:sldId xmlns:r="http://schemas.openxmlformats.org/officeDocument/2006/relationships" id="260" r:id="R4eebd56d295a4d62"/>
    <p:sldId xmlns:r="http://schemas.openxmlformats.org/officeDocument/2006/relationships" id="261" r:id="Rd501bc932bcb4cf8"/>
    <p:sldId xmlns:r="http://schemas.openxmlformats.org/officeDocument/2006/relationships" id="262" r:id="R5d504e2325a2479c"/>
    <p:sldId xmlns:r="http://schemas.openxmlformats.org/officeDocument/2006/relationships" id="263" r:id="R45f5a9d557654cb9"/>
    <p:sldId xmlns:r="http://schemas.openxmlformats.org/officeDocument/2006/relationships" id="264" r:id="Ree0ff0eaff754f5b"/>
    <p:sldId xmlns:r="http://schemas.openxmlformats.org/officeDocument/2006/relationships" id="265" r:id="R9922dfc3e99b45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646e1663604a5e" /><Relationship Type="http://schemas.openxmlformats.org/officeDocument/2006/relationships/slideMaster" Target="/ppt/slideMasters/slideMaster1.xml" Id="R9fe9a8b4677e4ee2" /><Relationship Type="http://schemas.openxmlformats.org/officeDocument/2006/relationships/notesMaster" Target="/ppt/notesMasters/notesMaster1.xml" Id="R5ddce4a4560d423b" /><Relationship Type="http://schemas.openxmlformats.org/officeDocument/2006/relationships/presProps" Target="/ppt/presProps.xml" Id="Rc4e37558519b4617" /><Relationship Type="http://schemas.openxmlformats.org/officeDocument/2006/relationships/viewProps" Target="/ppt/viewProps.xml" Id="R94a97505aab84cff" /><Relationship Type="http://schemas.openxmlformats.org/officeDocument/2006/relationships/tableStyles" Target="/ppt/tableStyles.xml" Id="R46721b77050f424a" /><Relationship Type="http://schemas.openxmlformats.org/officeDocument/2006/relationships/slide" Target="/ppt/slides/slide1.xml" Id="R11d464bbbad94ce6" /><Relationship Type="http://schemas.openxmlformats.org/officeDocument/2006/relationships/slide" Target="/ppt/slides/slide2.xml" Id="R42cc41518cfd4d56" /><Relationship Type="http://schemas.openxmlformats.org/officeDocument/2006/relationships/slide" Target="/ppt/slides/slide3.xml" Id="R092a9fb7a49648bb" /><Relationship Type="http://schemas.openxmlformats.org/officeDocument/2006/relationships/slide" Target="/ppt/slides/slide4.xml" Id="Rb1a92778df4943ed" /><Relationship Type="http://schemas.openxmlformats.org/officeDocument/2006/relationships/slide" Target="/ppt/slides/slide5.xml" Id="R4eebd56d295a4d62" /><Relationship Type="http://schemas.openxmlformats.org/officeDocument/2006/relationships/slide" Target="/ppt/slides/slide6.xml" Id="Rd501bc932bcb4cf8" /><Relationship Type="http://schemas.openxmlformats.org/officeDocument/2006/relationships/slide" Target="/ppt/slides/slide7.xml" Id="R5d504e2325a2479c" /><Relationship Type="http://schemas.openxmlformats.org/officeDocument/2006/relationships/slide" Target="/ppt/slides/slide8.xml" Id="R45f5a9d557654cb9" /><Relationship Type="http://schemas.openxmlformats.org/officeDocument/2006/relationships/slide" Target="/ppt/slides/slide9.xml" Id="Ree0ff0eaff754f5b" /><Relationship Type="http://schemas.openxmlformats.org/officeDocument/2006/relationships/slide" Target="/ppt/slides/slide10.xml" Id="R9922dfc3e99b45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7af93622f44f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c8f26e81a2417f" /><Relationship Type="http://schemas.openxmlformats.org/officeDocument/2006/relationships/notesMaster" Target="/ppt/notesMasters/notesMaster1.xml" Id="R1a0c16691ccb47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3d8647b6f94203" /><Relationship Type="http://schemas.openxmlformats.org/officeDocument/2006/relationships/notesMaster" Target="/ppt/notesMasters/notesMaster1.xml" Id="R58755c4b08fd4e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20113124454a19" /><Relationship Type="http://schemas.openxmlformats.org/officeDocument/2006/relationships/notesMaster" Target="/ppt/notesMasters/notesMaster1.xml" Id="R3f1651861df543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832afafcfe42a5" /><Relationship Type="http://schemas.openxmlformats.org/officeDocument/2006/relationships/notesMaster" Target="/ppt/notesMasters/notesMaster1.xml" Id="R42ff521912a149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d476a8e6f04c2a" /><Relationship Type="http://schemas.openxmlformats.org/officeDocument/2006/relationships/notesMaster" Target="/ppt/notesMasters/notesMaster1.xml" Id="R8fd343f9b2a640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3fb46e900b4353" /><Relationship Type="http://schemas.openxmlformats.org/officeDocument/2006/relationships/notesMaster" Target="/ppt/notesMasters/notesMaster1.xml" Id="R3fba878c489347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153cc2b78b4e9f" /><Relationship Type="http://schemas.openxmlformats.org/officeDocument/2006/relationships/notesMaster" Target="/ppt/notesMasters/notesMaster1.xml" Id="R3a83de38a1904c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58467a5640402d" /><Relationship Type="http://schemas.openxmlformats.org/officeDocument/2006/relationships/notesMaster" Target="/ppt/notesMasters/notesMaster1.xml" Id="Rf80de05907c445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0abd4469454599" /><Relationship Type="http://schemas.openxmlformats.org/officeDocument/2006/relationships/notesMaster" Target="/ppt/notesMasters/notesMaster1.xml" Id="Rb7640677d43745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ba3e73f96c4e24" /><Relationship Type="http://schemas.openxmlformats.org/officeDocument/2006/relationships/notesMaster" Target="/ppt/notesMasters/notesMaster1.xml" Id="R79ae11c3d28842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outcome, not the technology.</a:t>
            </a:r>
            <a:endParaRPr/>
          </a:p>
          <a:p xmlns:a="http://schemas.openxmlformats.org/drawingml/2006/main">
            <a:r>
              <a:t>Say: predicts, explains, recommends; never sanctions, rejects, restructures or contacts autonomously.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https://www.globalfintechfest.com/gff-hackathons/nabard-hackathon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mirrors the official objectives and avoids unrelated KCC/farmer-credit framing.</a:t>
            </a:r>
            <a:endParaRPr/>
          </a:p>
          <a:p xmlns:a="http://schemas.openxmlformats.org/drawingml/2006/main">
            <a:r>
              <a:t>Emphasise the required 3–6 month horizon and actionable early warning.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https://www.globalfintechfest.com/gff-hackathons/nabard-hackathon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fictional case throughout the demo.</a:t>
            </a:r>
            <a:endParaRPr/>
          </a:p>
          <a:p xmlns:a="http://schemas.openxmlformats.org/drawingml/2006/main">
            <a:r>
              <a:t>P10 falls below the operating buffer while P50 recovery remains visible: classify as temporary liquidity stress.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https://www.accion.org/article/the-case-for-account-aggregator-enabled-early-warning-systems/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Toggle optional market consent in the demo.</a:t>
            </a:r>
            <a:endParaRPr/>
          </a:p>
          <a:p xmlns:a="http://schemas.openxmlformats.org/drawingml/2006/main">
            <a:r>
              <a:t>AA, LokOS, ULI, AGMARKNET and IMD are adapter contracts—not claimed production connections.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https://sahamati.org.in/account-aggregator-key-resources/</a:t>
            </a:r>
            <a:endParaRPr/>
          </a:p>
          <a:p xmlns:a="http://schemas.openxmlformats.org/drawingml/2006/main">
            <a:r>
              <a:t>- https://www.pib.gov.in/FactsheetDetails.aspx?Id=150688&amp;lang=1&amp;reg=3</a:t>
            </a:r>
            <a:endParaRPr/>
          </a:p>
          <a:p xmlns:a="http://schemas.openxmlformats.org/drawingml/2006/main">
            <a:r>
              <a:t>- https://www.globalfintechfest.com/gff-hackathons/nabard-hackathon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figures come from artifacts/model_metrics.json; do not round into stronger claims.</a:t>
            </a:r>
            <a:endParaRPr/>
          </a:p>
          <a:p xmlns:a="http://schemas.openxmlformats.org/drawingml/2006/main">
            <a:r>
              <a:t>Synthetic data proves the pipeline and evaluation contract, not production accuracy.</a:t>
            </a:r>
            <a:endParaRPr/>
          </a:p>
          <a:p xmlns:a="http://schemas.openxmlformats.org/drawingml/2006/main">
            <a:r>
              <a:t>MASE = model MAE divided by seasonal-naïve MAE.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file:artifacts/model_metrics.json</a:t>
            </a:r>
            <a:endParaRPr/>
          </a:p>
          <a:p xmlns:a="http://schemas.openxmlformats.org/drawingml/2006/main">
            <a:r>
              <a:t>- file:MODEL_CARD.md</a:t>
            </a:r>
            <a:endParaRPr/>
          </a:p>
          <a:p xmlns:a="http://schemas.openxmlformats.org/drawingml/2006/main">
            <a:r>
              <a:t>- file:DATA_CARD.md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 the buyer-referral option in the live demo.</a:t>
            </a:r>
            <a:endParaRPr/>
          </a:p>
          <a:p xmlns:a="http://schemas.openxmlformats.org/drawingml/2006/main">
            <a:r>
              <a:t>Call the uplift a counterfactual scenario, never a causal effect.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https://www.accion.org/article/the-case-for-account-aggregator-enabled-early-warning-systems/</a:t>
            </a:r>
            <a:endParaRPr/>
          </a:p>
          <a:p xmlns:a="http://schemas.openxmlformats.org/drawingml/2006/main">
            <a:r>
              <a:t>- file:api/schema/action-card.schema.json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 GEMINI_API_KEY, the LLM selects among the eight tools; without it, an explicitly labelled offline policy runner executes the same bounded contract.</a:t>
            </a:r>
            <a:endParaRPr/>
          </a:p>
          <a:p xmlns:a="http://schemas.openxmlformats.org/drawingml/2006/main">
            <a:r>
              <a:t>There is no sanction, reject, restructure, disburse or contact tool.</a:t>
            </a:r>
            <a:endParaRPr/>
          </a:p>
          <a:p xmlns:a="http://schemas.openxmlformats.org/drawingml/2006/main">
            <a:r>
              <a:t>Mention injection, PII, numerical-fidelity, consent, budget and maker-checker release tests.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file:cloud-run/server.js</a:t>
            </a:r>
            <a:endParaRPr/>
          </a:p>
          <a:p xmlns:a="http://schemas.openxmlformats.org/drawingml/2006/main">
            <a:r>
              <a:t>- file:docs/evals/AGENT_HARNESS_EVALS.md</a:t>
            </a:r>
            <a:endParaRPr/>
          </a:p>
          <a:p xmlns:a="http://schemas.openxmlformats.org/drawingml/2006/main">
            <a:r>
              <a:t>- file:THREAT_MODEL.md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audience should leave knowing exactly which claims are proven and which are pilot gates.</a:t>
            </a:r>
            <a:endParaRPr/>
          </a:p>
          <a:p xmlns:a="http://schemas.openxmlformats.org/drawingml/2006/main">
            <a:r>
              <a:t>Map the open core to the nine DPG Standard indicators without claiming recognition.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https://www.digitalpublicgoods.net/standard</a:t>
            </a:r>
            <a:endParaRPr/>
          </a:p>
          <a:p xmlns:a="http://schemas.openxmlformats.org/drawingml/2006/main">
            <a:r>
              <a:t>- https://www.meity.gov.in/documents/act-and-policies/digital-personal-data-protection-rules-2025-gDOxUjMtQWa</a:t>
            </a:r>
            <a:endParaRPr/>
          </a:p>
          <a:p xmlns:a="http://schemas.openxmlformats.org/drawingml/2006/main">
            <a:r>
              <a:t>- file:docs/governance/RESPONSIBLE_AI.md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design deliberately starts with retrospective validation and silent mode.</a:t>
            </a:r>
            <a:endParaRPr/>
          </a:p>
          <a:p xmlns:a="http://schemas.openxmlformats.org/drawingml/2006/main">
            <a:r>
              <a:t>Suggested cohorts: women-led dairy SHGs, rural food micro-enterprises and FPOs.</a:t>
            </a:r>
            <a:endParaRPr/>
          </a:p>
          <a:p xmlns:a="http://schemas.openxmlformats.org/drawingml/2006/main">
            <a:r>
              <a:t>Promotion gates include calibration, cohort gaps, operational workload, red-team results and rollback readiness.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https://www.globalfintechfest.com/gff-hackathons/nabard-hackathon</a:t>
            </a:r>
            <a:endParaRPr/>
          </a:p>
          <a:p xmlns:a="http://schemas.openxmlformats.org/drawingml/2006/main">
            <a:r>
              <a:t>- https://www.accion.org/article/the-case-for-account-aggregator-enabled-early-warning-systems/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concrete pilot ask, then open the live demo.</a:t>
            </a:r>
            <a:endParaRPr/>
          </a:p>
          <a:p xmlns:a="http://schemas.openxmlformats.org/drawingml/2006/main">
            <a:r>
              <a:t>Repeat the boundary: AI prepares evidence; authorised humans remain accountable for every action.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https://www.globalfintechfest.com/gff-hackathons/nabard-hackathon</a:t>
            </a:r>
            <a:endParaRPr/>
          </a:p>
          <a:p xmlns:a="http://schemas.openxmlformats.org/drawingml/2006/main">
            <a:r>
              <a:t>- https://kisanflow-demo-1012823692058.us-east1.run.app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17119578542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bc939e11547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ade3f26ed47a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LIGH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>
  <p:cSld name="DARK">
    <p:bg>
      <p:bgPr>
        <a:solidFill xmlns:a="http://schemas.openxmlformats.org/drawingml/2006/main">
          <a:srgbClr val="162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5907266f7f4b5d" /><Relationship Type="http://schemas.openxmlformats.org/officeDocument/2006/relationships/slideLayout" Target="/ppt/slideLayouts/slideLayout1.xml" Id="R1d3f5067b7014c9f" /><Relationship Type="http://schemas.openxmlformats.org/officeDocument/2006/relationships/slideLayout" Target="/ppt/slideLayouts/slideLayout2.xml" Id="R8eb97477e2094348" /><Relationship Type="http://schemas.openxmlformats.org/officeDocument/2006/relationships/slideLayout" Target="/ppt/slideLayouts/slideLayout3.xml" Id="R072d45efe3e8472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3f5067b7014c9f"/>
    <p:sldLayoutId xmlns:r="http://schemas.openxmlformats.org/officeDocument/2006/relationships" id="2147483650" r:id="R8eb97477e2094348"/>
    <p:sldLayoutId xmlns:r="http://schemas.openxmlformats.org/officeDocument/2006/relationships" id="2147483651" r:id="R072d45efe3e8472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5118dd72b848ff" /><Relationship Type="http://schemas.openxmlformats.org/officeDocument/2006/relationships/image" Target="/ppt/media/image.png" Id="R19d90238cd07461c" /><Relationship Type="http://schemas.openxmlformats.org/officeDocument/2006/relationships/image" Target="/ppt/media/image2.png" Id="Rd83a4b03210e4e8b" /><Relationship Type="http://schemas.openxmlformats.org/officeDocument/2006/relationships/notesSlide" Target="/ppt/notesSlides/notesSlide1.xml" Id="R6cf2eb63c7df4a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92b31d6853495a" /><Relationship Type="http://schemas.openxmlformats.org/officeDocument/2006/relationships/image" Target="/ppt/media/image3.png" Id="Rbd22ddccd9464e97" /><Relationship Type="http://schemas.openxmlformats.org/officeDocument/2006/relationships/image" Target="/ppt/media/image4.png" Id="R9ff3f9368d7048b3" /><Relationship Type="http://schemas.openxmlformats.org/officeDocument/2006/relationships/image" Target="/ppt/media/image5.png" Id="R3aa43fde0d2a406b" /><Relationship Type="http://schemas.openxmlformats.org/officeDocument/2006/relationships/notesSlide" Target="/ppt/notesSlides/notesSlide2.xml" Id="R3f549d8b4e3e4c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ee712f3df941bc" /><Relationship Type="http://schemas.openxmlformats.org/officeDocument/2006/relationships/image" Target="/ppt/media/image6.png" Id="R26d5faeb4eba4f18" /><Relationship Type="http://schemas.openxmlformats.org/officeDocument/2006/relationships/image" Target="/ppt/media/image7.png" Id="Re748c845f62944e6" /><Relationship Type="http://schemas.openxmlformats.org/officeDocument/2006/relationships/image" Target="/ppt/media/image8.png" Id="R9b2e4905c4a04ed1" /><Relationship Type="http://schemas.openxmlformats.org/officeDocument/2006/relationships/notesSlide" Target="/ppt/notesSlides/notesSlide3.xml" Id="Rd04b1b4d784347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099d83e0f7488a" /><Relationship Type="http://schemas.openxmlformats.org/officeDocument/2006/relationships/image" Target="/ppt/media/image9.png" Id="R05b74204dd894c08" /><Relationship Type="http://schemas.openxmlformats.org/officeDocument/2006/relationships/image" Target="/ppt/media/image10.png" Id="R3a8a468cc2f34c47" /><Relationship Type="http://schemas.openxmlformats.org/officeDocument/2006/relationships/image" Target="/ppt/media/image11.png" Id="R7ad7c9e44875421b" /><Relationship Type="http://schemas.openxmlformats.org/officeDocument/2006/relationships/image" Target="/ppt/media/image12.png" Id="R76b9fd5584de4651" /><Relationship Type="http://schemas.openxmlformats.org/officeDocument/2006/relationships/image" Target="/ppt/media/image13.png" Id="R54574f841d3a408b" /><Relationship Type="http://schemas.openxmlformats.org/officeDocument/2006/relationships/notesSlide" Target="/ppt/notesSlides/notesSlide4.xml" Id="R8ae693ccc48242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7304c2ed004bf4" /><Relationship Type="http://schemas.openxmlformats.org/officeDocument/2006/relationships/chart" Target="/ppt/slides/charts/chart1.xml" Id="R2ef81c17e64642dc" /><Relationship Type="http://schemas.openxmlformats.org/officeDocument/2006/relationships/notesSlide" Target="/ppt/notesSlides/notesSlide5.xml" Id="R2d285ff760f943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5f416d143d470c" /><Relationship Type="http://schemas.openxmlformats.org/officeDocument/2006/relationships/image" Target="/ppt/media/image9.png" Id="R59169372f7d34cd9" /><Relationship Type="http://schemas.openxmlformats.org/officeDocument/2006/relationships/image" Target="/ppt/media/image10.png" Id="R8d50f52fe48d40fb" /><Relationship Type="http://schemas.openxmlformats.org/officeDocument/2006/relationships/image" Target="/ppt/media/image11.png" Id="Rf52ffb12165c45a9" /><Relationship Type="http://schemas.openxmlformats.org/officeDocument/2006/relationships/image" Target="/ppt/media/image12.png" Id="R45cf8a7e6f1d4b6e" /><Relationship Type="http://schemas.openxmlformats.org/officeDocument/2006/relationships/image" Target="/ppt/media/image13.png" Id="Rb8300bc704be4dea" /><Relationship Type="http://schemas.openxmlformats.org/officeDocument/2006/relationships/notesSlide" Target="/ppt/notesSlides/notesSlide6.xml" Id="Rfbcde1383bd344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debe9755954587" /><Relationship Type="http://schemas.openxmlformats.org/officeDocument/2006/relationships/image" Target="/ppt/media/image14.png" Id="R9bcf69a53a904fb8" /><Relationship Type="http://schemas.openxmlformats.org/officeDocument/2006/relationships/image" Target="/ppt/media/image15.png" Id="Rfa66e5389da541ce" /><Relationship Type="http://schemas.openxmlformats.org/officeDocument/2006/relationships/image" Target="/ppt/media/image16.png" Id="Rc29015e1b8974c5c" /><Relationship Type="http://schemas.openxmlformats.org/officeDocument/2006/relationships/image" Target="/ppt/media/image17.png" Id="Rbaf582b2a0e140cc" /><Relationship Type="http://schemas.openxmlformats.org/officeDocument/2006/relationships/image" Target="/ppt/media/image18.png" Id="R8d01c506c7c3405c" /><Relationship Type="http://schemas.openxmlformats.org/officeDocument/2006/relationships/image" Target="/ppt/media/image19.png" Id="R120b3cb0938747c7" /><Relationship Type="http://schemas.openxmlformats.org/officeDocument/2006/relationships/notesSlide" Target="/ppt/notesSlides/notesSlide7.xml" Id="Rec9839ff5afa4a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280f405309417c" /><Relationship Type="http://schemas.openxmlformats.org/officeDocument/2006/relationships/image" Target="/ppt/media/image20.png" Id="R5ce79a59c6304fe2" /><Relationship Type="http://schemas.openxmlformats.org/officeDocument/2006/relationships/image" Target="/ppt/media/image21.png" Id="R59a486e36d72483e" /><Relationship Type="http://schemas.openxmlformats.org/officeDocument/2006/relationships/notesSlide" Target="/ppt/notesSlides/notesSlide8.xml" Id="Rf2005b2325cb4f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fc9f9a1522444e" /><Relationship Type="http://schemas.openxmlformats.org/officeDocument/2006/relationships/image" Target="/ppt/media/image22.png" Id="Re8cc1c1bd2644035" /><Relationship Type="http://schemas.openxmlformats.org/officeDocument/2006/relationships/image" Target="/ppt/media/image23.png" Id="R9a0c5f9b2caa4a66" /><Relationship Type="http://schemas.openxmlformats.org/officeDocument/2006/relationships/image" Target="/ppt/media/image24.png" Id="R1b5054a7a6784883" /><Relationship Type="http://schemas.openxmlformats.org/officeDocument/2006/relationships/image" Target="/ppt/media/image25.png" Id="Ra01a21b8f5cd4e51" /><Relationship Type="http://schemas.openxmlformats.org/officeDocument/2006/relationships/notesSlide" Target="/ppt/notesSlides/notesSlide9.xml" Id="Rcb936ac52f5948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bf7c9ff4d649fc" /><Relationship Type="http://schemas.openxmlformats.org/officeDocument/2006/relationships/image" Target="/ppt/media/image26.png" Id="Rc7295016fdf24a0b" /><Relationship Type="http://schemas.openxmlformats.org/officeDocument/2006/relationships/image" Target="/ppt/media/image27.png" Id="Rb08ea33430e84c62" /><Relationship Type="http://schemas.openxmlformats.org/officeDocument/2006/relationships/notesSlide" Target="/ppt/notesSlides/notesSlide10.xml" Id="R0b6d58acbccb43c2" /></Relationships>
</file>

<file path=ppt/slides/charts/chart1.xml><?xml version="1.0" encoding="utf-8"?>
<c:chartSpace xmlns:c="http://schemas.openxmlformats.org/drawingml/2006/chart">
  <c:lang val="en-US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Rolling-holdout result (percent)</c:v>
                </c:pt>
              </c:strCache>
            </c:strRef>
          </c:tx>
          <c:spPr>
            <a:solidFill xmlns:a="http://schemas.openxmlformats.org/drawingml/2006/main">
              <a:srgbClr val="5C8A62"/>
            </a:solidFill>
          </c:spPr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 i="0" u="none">
                    <a:solidFill>
                      <a:srgbClr val="1B242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MAE improvement</c:v>
                </c:pt>
                <c:pt idx="1">
                  <c:v>P10–P90 coverage</c:v>
                </c:pt>
                <c:pt idx="2">
                  <c:v>EWS precision</c:v>
                </c:pt>
                <c:pt idx="3">
                  <c:v>EWS recall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83.2</c:v>
                </c:pt>
                <c:pt idx="2">
                  <c:v>45.8</c:v>
                </c:pt>
                <c:pt idx="3">
                  <c:v>28.2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 i="0" u="none">
                  <a:solidFill>
                    <a:srgbClr val="1B242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5C6B60"/>
                </a:solidFill>
                <a:latin typeface="Arial"/>
                <a:ea typeface="Arial"/>
                <a:cs typeface="Arial"/>
              </a:defRPr>
            </a:pPr>
          </a:p>
        </c:txPr>
        <c:crossAx val="2094734552"/>
        <c:crosses val="autoZero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388A825-EAD5-497F-BB1A-E7D91C08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8580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E24"/>
          </a:solidFill>
        </p:spPr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90238cd0746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888" y="798728"/>
            <a:ext cx="642823" cy="642823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3C0503E-71D5-42E6-A4D6-5AF18B3A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11064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KISANFLOW</a:t>
            </a:r>
            <a:endParaRPr sz="5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85956ED-43BF-44DE-85C7-C202B287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37560"/>
            <a:ext cx="10515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C97A1A"/>
                </a:solidFill>
                <a:latin typeface="Calibri"/>
                <a:ea typeface="Calibri"/>
                <a:cs typeface="Calibri"/>
              </a:rPr>
              <a:t>Anticipate cash-flow stress. Act before a missed repayment.</a:t>
            </a:r>
            <a:endParaRPr sz="20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2BDD579-7247-498B-87F8-0EDBE2EE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EFEFE6"/>
                </a:solidFill>
                <a:latin typeface="Calibri"/>
                <a:ea typeface="Calibri"/>
                <a:cs typeface="Calibri"/>
              </a:rPr>
              <a:t>26-week cash-flow ranges + explainable early warning for SHGs, FPOs and rural micro-enterprises</a:t>
            </a:r>
            <a:endParaRPr sz="14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6DD7ADD-721F-44D5-A0DB-22D18391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722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F2E24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C665384-8555-4D01-ABC4-D7F08A6F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E24"/>
          </a:solidFill>
        </p:spPr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a4b03210e4e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189" y="6036869"/>
            <a:ext cx="270662" cy="270662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582C1109-CF18-4823-86E1-26E367A0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989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EFEFE6"/>
                </a:solidFill>
                <a:latin typeface="Calibri"/>
                <a:ea typeface="Calibri"/>
                <a:cs typeface="Calibri"/>
              </a:rPr>
              <a:t>LIVE · SYNTHETIC EVAL · SANDBOX RAILS · HUMAN ACTION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8953560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6B1F0EB-A924-4E9B-918A-F9141658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7A1A"/>
                </a:solidFill>
                <a:latin typeface="Calibri"/>
                <a:ea typeface="Calibri"/>
                <a:cs typeface="Calibri"/>
              </a:rPr>
              <a:t>THE NABARD CHALLENGE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2B93EC-8FF7-4556-A07E-E584F893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420"/>
                </a:solidFill>
                <a:latin typeface="Cambria"/>
                <a:ea typeface="Cambria"/>
                <a:cs typeface="Cambria"/>
              </a:rPr>
              <a:t>The brief asks for foresight—not another backward-looking score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6877493-5447-4CF7-9A38-2AE1425A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3429000" cy="278892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5E7D0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A923EAA-26A4-44FA-8716-ECE8C3B8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2ddccd9464e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8548" y="2051548"/>
            <a:ext cx="487192" cy="487192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7522C1E-6F21-4478-A2BC-692771E3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2880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420"/>
                </a:solidFill>
                <a:latin typeface="Cambria"/>
                <a:ea typeface="Cambria"/>
                <a:cs typeface="Cambria"/>
              </a:rPr>
              <a:t>3–6 mo</a:t>
            </a:r>
            <a:endParaRPr sz="3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23FCA1E-0A76-4738-8A32-5886B32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83280"/>
            <a:ext cx="28803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AI/ML cash-flow prediction for rural micro-enterprises</a:t>
            </a:r>
            <a:endParaRPr sz="12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3CEA87D-45AA-47D4-BC08-DB927EB3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691640"/>
            <a:ext cx="3429000" cy="278892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3DCD5"/>
          </a:solidFill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40C8EEB-EE69-4620-985D-576C4570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6596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3f9368d7048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57588" y="2051548"/>
            <a:ext cx="487192" cy="487192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C13109D-1FC3-41A6-9B06-D4B680BA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2880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420"/>
                </a:solidFill>
                <a:latin typeface="Cambria"/>
                <a:ea typeface="Cambria"/>
                <a:cs typeface="Cambria"/>
              </a:rPr>
              <a:t>4 rails</a:t>
            </a:r>
            <a:endParaRPr sz="3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8EFA34F-FBE6-40D9-86E8-232C295A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83280"/>
            <a:ext cx="28803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Financial + digital transaction + market/history + climate/seasonality</a:t>
            </a:r>
            <a:endParaRPr sz="12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925D6EE-55B5-4A43-B7E6-9342DB2A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91640"/>
            <a:ext cx="3429000" cy="278892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0271EA2B-BE88-43B5-AEA4-39063770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6596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43fde0d2a40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6628" y="2051548"/>
            <a:ext cx="487192" cy="487192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05E848C1-7BCF-4D4C-8662-00600DA6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743200"/>
            <a:ext cx="2880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420"/>
                </a:solidFill>
                <a:latin typeface="Cambria"/>
                <a:ea typeface="Cambria"/>
                <a:cs typeface="Cambria"/>
              </a:rPr>
              <a:t>Early + useful</a:t>
            </a:r>
            <a:endParaRPr sz="30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83BACF14-96AA-446E-B42A-3C061E82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383280"/>
            <a:ext cx="28803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Flag emerging financial stress and give field officers a corrective action</a:t>
            </a:r>
            <a:endParaRPr sz="1250"/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1402791B-16E7-47D3-848F-1C666FC6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9160"/>
            <a:ext cx="11064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Target users: SHGs, FPOs and individual rural entrepreneurs. Today, fragmented signals and manual monitoring mean stress is often visible only after liquidity or repayment trouble has begun.</a:t>
            </a:r>
            <a:endParaRPr sz="145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9247460F-EF40-49F0-8B63-C36160D5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Source: Official NABARD Hackathon @ GFF 2026 problem statement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3965745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9C2E4A8-5F79-40F1-8666-F5D50B8F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7A1A"/>
                </a:solidFill>
                <a:latin typeface="Calibri"/>
                <a:ea typeface="Calibri"/>
                <a:cs typeface="Calibri"/>
              </a:rPr>
              <a:t>ANCHOR RURAL-FINANCE CASE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FAB7C77-021E-4E58-822E-80212518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420"/>
                </a:solidFill>
                <a:latin typeface="Cambria"/>
                <a:ea typeface="Cambria"/>
                <a:cs typeface="Cambria"/>
              </a:rPr>
              <a:t>Sakhi Dairy SHG: a temporary shock, visible before a missed payment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CDF4E3-1831-46C6-A5EE-0BA20B42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1206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Twelve women run a dairy collective in Anand. Weekly receipts soften while feed costs rise. A point score hides the timing; a 26-week P10/P50/P90 curve exposes an eight-week stress window and the expected recovery.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D65D3FB-C898-49ED-A5B0-B39E793A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0"/>
            <a:ext cx="512064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KisanFlow explains the drivers, compares an approved response and creates an action card. It does not label the group a defaulter—and it cannot change terms or contact members without a maker-checker decision.</a:t>
            </a:r>
            <a:endParaRPr sz="15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EE44D03-6792-499F-ACCD-398D4392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37360"/>
            <a:ext cx="548640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EAC33C9-4B9A-44A5-A053-D57F5BE3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7672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5faeb4eba4f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4010" y="2030882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1F84816-042E-42B8-9D03-45D0356A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737360"/>
            <a:ext cx="42976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1 · Consent + fresh enterprise signals</a:t>
            </a:r>
            <a:endParaRPr sz="14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C9935E9-9684-45A5-91B9-E3E550EA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256" y="2788920"/>
            <a:ext cx="18288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B60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2687A82-65CB-4C19-9E43-3D71543D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46120"/>
            <a:ext cx="548640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463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66DCB86-8F7F-441E-AA15-BFE47FE2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5186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E24"/>
          </a:solidFill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8c845f629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4010" y="353507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CCAEC81-1EF1-4CCB-8CDD-A68052C7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246120"/>
            <a:ext cx="42976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· Forecast range + stress reasons</a:t>
            </a:r>
            <a:endParaRPr sz="14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3749544-DB5A-4F7F-A947-926856A2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256" y="4297680"/>
            <a:ext cx="18288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B60"/>
            </a:solidFill>
            <a:prstDash val="solid"/>
            <a:tailEnd type="triangle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D09A951-AE33-4582-8BDD-CAAC2E57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54880"/>
            <a:ext cx="548640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E7D0"/>
          </a:solidFill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4310F286-2DFF-4693-BACB-AE09D95D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606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3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e4905c4a04e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4010" y="504383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3451B499-77DD-4B07-99C3-14914783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754880"/>
            <a:ext cx="42976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3 · Human-approved corrective response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0755793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919AA5B-E27A-4487-AB29-9B49BEEE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7A1A"/>
                </a:solidFill>
                <a:latin typeface="Calibri"/>
                <a:ea typeface="Calibri"/>
                <a:cs typeface="Calibri"/>
              </a:rPr>
              <a:t>CONSENTED DATA RAILS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1512D94-AF7D-489D-9386-25D9C3FD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420"/>
                </a:solidFill>
                <a:latin typeface="Cambria"/>
                <a:ea typeface="Cambria"/>
                <a:cs typeface="Cambria"/>
              </a:rPr>
              <a:t>Five contracts; every source labelled live, sandbox or withheld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F18E536-EC95-45E8-80E4-6A060562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2084832" cy="329184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B1A9664-F9ED-4714-A969-43849A94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74204dd894c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0993" y="2302825"/>
            <a:ext cx="460126" cy="460126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D8B137C-B456-4CCE-ACB1-37083A42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01 Partner ledger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125797A-E84B-4A64-8648-AE8EB549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47288"/>
            <a:ext cx="1755648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Weekly credits, debits, dues and repayment events · required · institution-owned</a:t>
            </a:r>
            <a:endParaRPr sz="10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DE27064-24FB-49A3-BDB7-4FFCAAF8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4747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B60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6C4DC9C-1658-46BB-B466-06590A33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4" y="1965960"/>
            <a:ext cx="2084832" cy="329184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4B493B4-123C-4419-96EE-AC49CD87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22199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a468cc2f34c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0417" y="2302825"/>
            <a:ext cx="460126" cy="46012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9AB40CE1-509A-4815-8224-E427F82B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2971800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02 AA / payments</a:t>
            </a:r>
            <a:endParaRPr sz="125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347829C-96A8-4E5A-A479-A497D153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3447288"/>
            <a:ext cx="1755648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Purpose-bound, expiring consent · digital transaction trends · sandbox schema today</a:t>
            </a:r>
            <a:endParaRPr sz="10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FABE5C6-68DC-4664-99AA-6F61D42E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34747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B60"/>
            </a:solidFill>
            <a:prstDash val="solid"/>
            <a:tailEnd type="triangle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C2CFD3D0-01C1-4E65-B0CE-C887E7FE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1965960"/>
            <a:ext cx="2084832" cy="329184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3DCD5"/>
          </a:solidFill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FC631DD-6200-45AF-80BC-3BE4F50C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222199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7c9e4487542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9841" y="2302825"/>
            <a:ext cx="460126" cy="460126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1495A917-0273-4997-AA74-856C9E46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971800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03 Market rail</a:t>
            </a:r>
            <a:endParaRPr sz="125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3813B658-C2CE-43D2-82DA-17E35102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47288"/>
            <a:ext cx="1755648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AGMARKNET / e-NAM adapter · commodity, market, date, price · freshness gate</a:t>
            </a:r>
            <a:endParaRPr sz="1000"/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C582373B-87E5-460F-AC2D-026888AB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4747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B60"/>
            </a:solidFill>
            <a:prstDash val="solid"/>
            <a:tailEnd type="triangle"/>
          </a:ln>
        </p:spPr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446CCF44-AB6D-4EB9-A22E-D72B377A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1965960"/>
            <a:ext cx="2084832" cy="329184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0EABD497-ABCC-4228-8FD4-6EB001D8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222199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6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9fd5584de46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9265" y="2302825"/>
            <a:ext cx="460126" cy="460126"/>
          </a:xfrm>
          <a:prstGeom xmlns:a="http://schemas.openxmlformats.org/drawingml/2006/main" prst="rect">
            <a:avLst/>
          </a:prstGeom>
        </p:spPr>
      </p:pic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1F06E089-4463-4CEB-A9AC-33F5534D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2971800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04 Climate rail</a:t>
            </a:r>
            <a:endParaRPr sz="125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7D65ED60-518F-450A-B6D6-1DDAE532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3447288"/>
            <a:ext cx="1755648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IMD-compatible district anomaly · seasonal context · no continuous location</a:t>
            </a:r>
            <a:endParaRPr sz="1000"/>
          </a:p>
        </p:txBody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88458891-6B1D-41AC-96ED-4A446214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34747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B60"/>
            </a:solidFill>
            <a:prstDash val="solid"/>
            <a:tailEnd type="triangle"/>
          </a:ln>
        </p:spPr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A428AB46-6521-480F-A559-030B535F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36" y="1965960"/>
            <a:ext cx="2084832" cy="329184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071C6F58-7AE4-4F5C-AF6D-0D84905F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856" y="222199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6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74f841d3a40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58689" y="2302825"/>
            <a:ext cx="460126" cy="460126"/>
          </a:xfrm>
          <a:prstGeom xmlns:a="http://schemas.openxmlformats.org/drawingml/2006/main" prst="rect">
            <a:avLst/>
          </a:prstGeom>
        </p:spPr>
      </p:pic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8EBAF657-B662-4453-A625-FE96CB99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96" y="2971800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05 LokOS / ULI</a:t>
            </a:r>
            <a:endParaRPr sz="1250"/>
          </a:p>
        </p:txBody>
      </p:sp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C7B8D3BF-0194-4867-8FFC-2469FB90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3447288"/>
            <a:ext cx="1755648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Institution and enterprise interoperability · minimum fields · sandbox until authorised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803886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2F0DBE2-8809-4644-9171-40925011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7A1A"/>
                </a:solidFill>
                <a:latin typeface="Calibri"/>
                <a:ea typeface="Calibri"/>
                <a:cs typeface="Calibri"/>
              </a:rPr>
              <a:t>MEASURED ML EVIDENCE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EC29754-EE02-4CD0-B607-A459CF86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420"/>
                </a:solidFill>
                <a:latin typeface="Cambria"/>
                <a:ea typeface="Cambria"/>
                <a:cs typeface="Cambria"/>
              </a:rPr>
              <a:t>A real 26-week quantile benchmark—with every limitation visible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9B56E6C-CD3E-46D1-AFA0-693C9299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060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69D9EA7-6E49-47AA-8E44-5AE5C6FA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28800"/>
            <a:ext cx="2276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P10 / P50 / P90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10CB92F-F738-4375-B935-E63780EC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258568"/>
            <a:ext cx="2276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26 weekly steps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028E6D0-D703-4FAA-8C4C-8BA0EB4E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06040"/>
            <a:ext cx="2276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83.2% coverage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97AB389-35E8-4566-AFAF-6A29F58A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71800"/>
            <a:ext cx="22768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Gradient Boosting quantiles · synthetic rolling holdouts</a:t>
            </a:r>
            <a:endParaRPr sz="8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4DC3BB9-9C67-4742-B0F6-23562C00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691640"/>
            <a:ext cx="26060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54BD86B-CF9F-4E18-A50B-6695BBA7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1828800"/>
            <a:ext cx="2276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Temporal validation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7E63176-7A0F-4216-B538-325F9256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2258568"/>
            <a:ext cx="2276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3 rolling origins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07C74B1-C6FA-44A6-BE23-8E91B094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2606040"/>
            <a:ext cx="2276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MASE 0.52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A190A87-A8C5-4154-A0C7-71580DEE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2971800"/>
            <a:ext cx="22768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&lt;1 beats seasonal-naïve benchmark</a:t>
            </a:r>
            <a:endParaRPr sz="8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722CF95-CD2F-45CB-913C-5AEF906F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691640"/>
            <a:ext cx="26060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DE08B24-1865-4A1C-89BC-3E3FFEE8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828800"/>
            <a:ext cx="2276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Conservative EWS</a:t>
            </a:r>
            <a:endParaRPr sz="15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5B32AF2-1046-45D9-9132-85BFA924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2258568"/>
            <a:ext cx="2276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45.8% precision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ED3809-ED53-43AA-93C6-724E624C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2606040"/>
            <a:ext cx="2276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0.83 false / 100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BD17CB4-0913-408D-9D9A-E119AEB6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2971800"/>
            <a:ext cx="22768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28.2% recall · 2-week median lead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D2AABFD-45D2-45E8-AFCA-7E6EFE04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536" y="1691640"/>
            <a:ext cx="26060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DCD5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04F23AF-84E7-4672-9146-DCE20785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828800"/>
            <a:ext cx="2276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Fairness diagnostic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A62B400-3DCE-4F81-B844-B6CE0A56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2258568"/>
            <a:ext cx="2276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3 enterprise cohorts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B3AACFE-FFD3-42A2-85C9-63BBFF18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2606040"/>
            <a:ext cx="2276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0.092 max recall gap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D2CC9A3-6291-463F-A02F-5BCA509B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2971800"/>
            <a:ext cx="22768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Synthetic diagnostic—not real-world fairness proof</a:t>
            </a:r>
            <a:endParaRPr sz="8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050DCC3-C81D-4AB5-959E-6C5D1294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ROLLING-HOLDOUT RESULTS · PERCENT · SYNTHETIC EVALUATION</a:t>
            </a:r>
            <a:endParaRPr sz="1050"/>
          </a:p>
        </p:txBody>
      </p:sp>
      <p:graphicFrame>
        <p:nvGraphicFramePr>
          <p:cNvPr id="49" name="Chart 0"/>
          <p:cNvGraphicFramePr/>
          <p:nvPr/>
        </p:nvGraphicFramePr>
        <p:xfrm>
          <a:off xmlns:a="http://schemas.openxmlformats.org/drawingml/2006/main" x="548640" y="4114800"/>
          <a:ext xmlns:a="http://schemas.openxmlformats.org/drawingml/2006/main" cx="11064240" cy="23317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f81c17e64642dc"/>
          </a:graphicData>
        </a:graphic>
      </p:graphicFrame>
    </p:spTree>
    <p:extLst>
      <p:ext uri="{BB962C8B-B14F-4D97-AF65-F5344CB8AC3E}">
        <p14:creationId xmlns:p14="http://schemas.microsoft.com/office/powerpoint/2010/main" val="8626944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919AA5B-E27A-4487-AB29-9B49BEEE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7A1A"/>
                </a:solidFill>
                <a:latin typeface="Calibri"/>
                <a:ea typeface="Calibri"/>
                <a:cs typeface="Calibri"/>
              </a:rPr>
              <a:t>ACTIONABLE—NOT AUTONOMOUS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1512D94-AF7D-489D-9386-25D9C3FD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420"/>
                </a:solidFill>
                <a:latin typeface="Cambria"/>
                <a:ea typeface="Cambria"/>
                <a:cs typeface="Cambria"/>
              </a:rPr>
              <a:t>Alert → reason → compare response → verify → independent checker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F18E536-EC95-45E8-80E4-6A060562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2084832" cy="329184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B1A9664-F9ED-4714-A969-43849A94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69372f7d34c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0993" y="2302825"/>
            <a:ext cx="460126" cy="460126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D8B137C-B456-4CCE-ACB1-37083A42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01 Alert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125797A-E84B-4A64-8648-AE8EB549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47288"/>
            <a:ext cx="1755648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P10 crosses operating buffer before the labelled stress event</a:t>
            </a:r>
            <a:endParaRPr sz="10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DE27064-24FB-49A3-BDB7-4FFCAAF8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4747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B60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6C4DC9C-1658-46BB-B466-06590A33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4" y="1965960"/>
            <a:ext cx="2084832" cy="329184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4B493B4-123C-4419-96EE-AC49CD87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22199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0f52fe48d40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0417" y="2302825"/>
            <a:ext cx="460126" cy="46012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9AB40CE1-509A-4815-8224-E427F82B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2971800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02 Explain</a:t>
            </a:r>
            <a:endParaRPr sz="125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347829C-96A8-4E5A-A479-A497D153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3447288"/>
            <a:ext cx="1755648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Receipt decline + input-cost spike + visible seasonal recovery</a:t>
            </a:r>
            <a:endParaRPr sz="10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FABE5C6-68DC-4664-99AA-6F61D42E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34747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B60"/>
            </a:solidFill>
            <a:prstDash val="solid"/>
            <a:tailEnd type="triangle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C2CFD3D0-01C1-4E65-B0CE-C887E7FE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1965960"/>
            <a:ext cx="2084832" cy="329184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3DCD5"/>
          </a:solidFill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FC631DD-6200-45AF-80BC-3BE4F50C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222199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ffb12165c45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9841" y="2302825"/>
            <a:ext cx="460126" cy="460126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1495A917-0273-4997-AA74-856C9E46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971800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03 Compare</a:t>
            </a:r>
            <a:endParaRPr sz="125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3813B658-C2CE-43D2-82DA-17E35102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47288"/>
            <a:ext cx="1755648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Repayment timing, verified buyer referral or cash-flow advisory · what-if only</a:t>
            </a:r>
            <a:endParaRPr sz="1000"/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C582373B-87E5-460F-AC2D-026888AB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4747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B60"/>
            </a:solidFill>
            <a:prstDash val="solid"/>
            <a:tailEnd type="triangle"/>
          </a:ln>
        </p:spPr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446CCF44-AB6D-4EB9-A22E-D72B377A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1965960"/>
            <a:ext cx="2084832" cy="329184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0EABD497-ABCC-4228-8FD4-6EB001D8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222199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6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f8a7e6f1d4b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9265" y="2302825"/>
            <a:ext cx="460126" cy="460126"/>
          </a:xfrm>
          <a:prstGeom xmlns:a="http://schemas.openxmlformats.org/drawingml/2006/main" prst="rect">
            <a:avLst/>
          </a:prstGeom>
        </p:spPr>
      </p:pic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1F06E089-4463-4CEB-A9AC-33F5534D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2971800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04 Verify</a:t>
            </a:r>
            <a:endParaRPr sz="125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7D65ED60-518F-450A-B6D6-1DDAE532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3447288"/>
            <a:ext cx="1755648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Numbers match model artifact · consent/source/action boundaries pass</a:t>
            </a:r>
            <a:endParaRPr sz="1000"/>
          </a:p>
        </p:txBody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88458891-6B1D-41AC-96ED-4A446214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3474720"/>
            <a:ext cx="164592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B60"/>
            </a:solidFill>
            <a:prstDash val="solid"/>
            <a:tailEnd type="triangle"/>
          </a:ln>
        </p:spPr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A428AB46-6521-480F-A559-030B535F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36" y="1965960"/>
            <a:ext cx="2084832" cy="329184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071C6F58-7AE4-4F5C-AF6D-0D84905F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856" y="222199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6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00bc704be4d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58689" y="2302825"/>
            <a:ext cx="460126" cy="460126"/>
          </a:xfrm>
          <a:prstGeom xmlns:a="http://schemas.openxmlformats.org/drawingml/2006/main" prst="rect">
            <a:avLst/>
          </a:prstGeom>
        </p:spPr>
      </p:pic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8EBAF657-B662-4453-A625-FE96CB99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96" y="2971800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05 Checker gate</a:t>
            </a:r>
            <a:endParaRPr sz="1250"/>
          </a:p>
        </p:txBody>
      </p:sp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C7B8D3BF-0194-4867-8FFC-2469FB90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3447288"/>
            <a:ext cx="1755648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Maker prepares; separate checker approves · no customer contacted, no account changed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803886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DD80B20-6620-4219-92C4-DF26E9E4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7A1A"/>
                </a:solidFill>
                <a:latin typeface="Calibri"/>
                <a:ea typeface="Calibri"/>
                <a:cs typeface="Calibri"/>
              </a:rPr>
              <a:t>BOUNDED AGENT HARNESS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C9E310-136F-4667-8FBA-361BC460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One Case Manager plans; deterministic services own every number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B5C13C2-344A-467B-949B-2F3D0AC0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691640"/>
            <a:ext cx="2743200" cy="77724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97A1A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1B1FA34-F17F-4671-B99E-DF06C7BD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691640"/>
            <a:ext cx="27432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6231D"/>
                </a:solidFill>
                <a:latin typeface="Calibri"/>
                <a:ea typeface="Calibri"/>
                <a:cs typeface="Calibri"/>
              </a:rPr>
              <a:t>CASE MANAGER</a:t>
            </a:r>
            <a:endParaRPr sz="15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59D3F60-38CE-4ACF-BFB1-970BD6EF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196596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F2E24"/>
          </a:solidFill>
          <a:ln xmlns:a="http://schemas.openxmlformats.org/drawingml/2006/main" w="12700">
            <a:solidFill>
              <a:srgbClr val="C97A1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6548EA5-4B60-493D-B895-473252FC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612" y="3310128"/>
            <a:ext cx="585216" cy="585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1D"/>
          </a:solidFill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f69a53a904f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3690" y="3386206"/>
            <a:ext cx="433060" cy="433060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848B0A0-0C50-4F02-9D9F-1AB08D20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1965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gate</a:t>
            </a:r>
            <a:endParaRPr sz="11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0421B67-83BA-4492-820B-F2F23CAC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20" y="2468880"/>
            <a:ext cx="914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C97A1A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157BC8-5588-4B88-881A-BF640887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3108960"/>
            <a:ext cx="196596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F2E24"/>
          </a:solidFill>
          <a:ln xmlns:a="http://schemas.openxmlformats.org/drawingml/2006/main" w="12700">
            <a:solidFill>
              <a:srgbClr val="C97A1A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3A9AC71-C236-4B91-9B52-E9DB5ED3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740" y="3310128"/>
            <a:ext cx="585216" cy="585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1D"/>
          </a:solidFill>
        </p:spPr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6e5389da541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0818" y="3386206"/>
            <a:ext cx="433060" cy="433060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6B85B56-F822-4529-A9EA-B364472B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3977640"/>
            <a:ext cx="1965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tools</a:t>
            </a:r>
            <a:endParaRPr sz="115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E540767-48FB-4F6C-8F78-F855AB42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348" y="2468880"/>
            <a:ext cx="914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C97A1A"/>
            </a:solidFill>
            <a:prstDash val="solid"/>
            <a:tailEnd type="triangle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718FFAD-AC72-4DBE-A08A-728E6B5F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496" y="3108960"/>
            <a:ext cx="196596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F2E24"/>
          </a:solidFill>
          <a:ln xmlns:a="http://schemas.openxmlformats.org/drawingml/2006/main" w="12700">
            <a:solidFill>
              <a:srgbClr val="C97A1A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954F4454-62DC-4D78-B529-3031F0A4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868" y="3310128"/>
            <a:ext cx="585216" cy="585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1D"/>
          </a:solidFill>
        </p:spPr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015e1b8974c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77946" y="3386206"/>
            <a:ext cx="433060" cy="433060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99A89116-2DD8-4BD8-8FC5-68FDA11B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496" y="3977640"/>
            <a:ext cx="1965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Forecast + EWS</a:t>
            </a:r>
            <a:endParaRPr sz="1150"/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C3A638A5-2F19-49C6-B278-169A9AC1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2468880"/>
            <a:ext cx="914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C97A1A"/>
            </a:solidFill>
            <a:prstDash val="solid"/>
            <a:tailEnd type="triangle"/>
          </a:ln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70483BFA-991C-4243-9D11-77EFA2F6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3108960"/>
            <a:ext cx="196596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F2E24"/>
          </a:solidFill>
          <a:ln xmlns:a="http://schemas.openxmlformats.org/drawingml/2006/main" w="12700">
            <a:solidFill>
              <a:srgbClr val="C97A1A"/>
            </a:solidFill>
            <a:prstDash val="solid"/>
          </a:ln>
        </p:spPr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B929D1D1-2757-4D3E-9CD7-87C10697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996" y="3310128"/>
            <a:ext cx="585216" cy="585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1D"/>
          </a:solidFill>
        </p:spPr>
      </p:sp>
      <p:pic>
        <p:nvPicPr>
          <p:cNvPr id="6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582b2a0e140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5074" y="3386206"/>
            <a:ext cx="433060" cy="433060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33BA9EA3-9228-4B22-8B3D-29384002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3977640"/>
            <a:ext cx="1965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Policy verifier</a:t>
            </a:r>
            <a:endParaRPr sz="1150"/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22AA5F9C-8A29-4D8F-BF2B-E1018F6E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604" y="2468880"/>
            <a:ext cx="914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C97A1A"/>
            </a:solidFill>
            <a:prstDash val="solid"/>
            <a:tailEnd type="triangle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6C189727-E956-4D08-9B66-7B9D73BE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3108960"/>
            <a:ext cx="196596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F2E24"/>
          </a:solidFill>
          <a:ln xmlns:a="http://schemas.openxmlformats.org/drawingml/2006/main" w="12700">
            <a:solidFill>
              <a:srgbClr val="C97A1A"/>
            </a:solidFill>
            <a:prstDash val="solid"/>
          </a:ln>
        </p:spPr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EF5F8D6F-97CE-47C3-8B3A-F155F65C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124" y="3310128"/>
            <a:ext cx="585216" cy="585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1D"/>
          </a:solidFill>
        </p:spPr>
      </p:sp>
      <p:pic>
        <p:nvPicPr>
          <p:cNvPr id="6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1c506c7c340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12202" y="3386206"/>
            <a:ext cx="433060" cy="433060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BA727A75-C849-44C8-96E3-3A395EB9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3977640"/>
            <a:ext cx="1965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Action card</a:t>
            </a:r>
            <a:endParaRPr sz="1150"/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6343CDE3-1328-4D60-BA36-C8FAC549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8732" y="2468880"/>
            <a:ext cx="914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C97A1A"/>
            </a:solidFill>
            <a:prstDash val="solid"/>
            <a:tailEnd type="triangle"/>
          </a:ln>
        </p:spPr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C369F743-BE3F-423B-9561-CE81C5BA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436" y="5074920"/>
            <a:ext cx="2926080" cy="77724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2E24"/>
          </a:solidFill>
          <a:ln xmlns:a="http://schemas.openxmlformats.org/drawingml/2006/main" w="12700">
            <a:solidFill>
              <a:srgbClr val="5C8A62"/>
            </a:solidFill>
            <a:prstDash val="dash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E0517BA4-6A9F-4B8D-9006-07F63D7D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452" y="519379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1D"/>
          </a:solidFill>
        </p:spPr>
      </p:sp>
      <p:pic>
        <p:nvPicPr>
          <p:cNvPr id="7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b3cb0938747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30775" y="5265115"/>
            <a:ext cx="405994" cy="405994"/>
          </a:xfrm>
          <a:prstGeom xmlns:a="http://schemas.openxmlformats.org/drawingml/2006/main" prst="rect">
            <a:avLst/>
          </a:prstGeom>
        </p:spPr>
      </p:pic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92BB4C75-9722-46B1-A900-66460B2C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8676" y="5074920"/>
            <a:ext cx="2057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C8A62"/>
                </a:solidFill>
                <a:latin typeface="Calibri"/>
                <a:ea typeface="Calibri"/>
                <a:cs typeface="Calibri"/>
              </a:rPr>
              <a:t>8-tool allow-list · 2 turns · 6s timeout · labelled fallback · replay · kill switch</a:t>
            </a:r>
            <a:endParaRPr sz="1050"/>
          </a:p>
        </p:txBody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72F4F07C-87E8-4C1C-9B0F-F774823C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4709160"/>
            <a:ext cx="914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5C8A62"/>
            </a:solidFill>
            <a:prstDash val="dash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1886611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87AD090-B136-4038-A39F-542CD063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7A1A"/>
                </a:solidFill>
                <a:latin typeface="Calibri"/>
                <a:ea typeface="Calibri"/>
                <a:cs typeface="Calibri"/>
              </a:rPr>
              <a:t>TRUST = EVIDENCE + LIMITS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604E6A6-8FA5-40C3-A917-9A1DF2D3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420"/>
                </a:solidFill>
                <a:latin typeface="Cambria"/>
                <a:ea typeface="Cambria"/>
                <a:cs typeface="Cambria"/>
              </a:rPr>
              <a:t>What works now—and what must be true before a field pilot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7209E21-10D2-444D-9C28-8725FEEC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4924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0830E1F-8506-47A3-8892-9AA40C6D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20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79a59c6304f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060" y="1985620"/>
            <a:ext cx="372161" cy="372161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295295-4DDF-4501-BA5B-E4D12015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965960"/>
            <a:ext cx="4114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Working, inspectable evidence</a:t>
            </a:r>
            <a:endParaRPr sz="16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B279E51-E570-487B-9DAB-49F3737B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06040"/>
            <a:ext cx="4709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•  26-week P10/P50/P90 training + temporal benchmark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06B8C5C-A040-4639-9E5D-99BB175A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64408"/>
            <a:ext cx="4709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•  Typed Case Manager API, verifier, audit replay and tests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54778E4-990F-4E44-A8AC-6C1C8D8F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22776"/>
            <a:ext cx="4709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•  Granular consent, withdrawal and maker-checker gate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6D7C73F-EF2F-4FA3-BA7F-22B06B34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81144"/>
            <a:ext cx="4709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•  Apache-2.0 + OpenAPI + schemas + model/data cards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04D2999-7A57-4C03-BEBC-E09F6A38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1640"/>
            <a:ext cx="548640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3DCD5"/>
          </a:solidFill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EE67BBE-D1F7-4D46-BC5A-DF1BDF02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20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486e36d7248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7620" y="1985620"/>
            <a:ext cx="372161" cy="372161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6F44C34-D43B-4229-860A-B96F39F7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965960"/>
            <a:ext cx="4389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Release gates—not hidden gaps</a:t>
            </a:r>
            <a:endParaRPr sz="16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12395B7-B8BC-443B-92EA-EEE7C9DB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06040"/>
            <a:ext cx="4892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•  Retrospective validation on de-identified partner data</a:t>
            </a:r>
            <a:endParaRPr sz="13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0AE0A4CD-20EA-4806-AC03-327DF5E0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383280"/>
            <a:ext cx="4892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•  DPIA, legal review, threshold and grievance approval</a:t>
            </a:r>
            <a:endParaRPr sz="13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263D145-A1F7-4836-9EBA-3B4197AD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160520"/>
            <a:ext cx="4892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•  Live rails only after institution authorisation</a:t>
            </a:r>
            <a:endParaRPr sz="13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4B31FC7B-131E-44B9-A1F8-5006BE6C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DPG-ready evidence, not DPGA recognition. DPDP-aligned design, not legal certification. Synthetic metrics, not production performance. The system predicts, explains and recommends; accountable humans act.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6469131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2D54040-E29B-4CD2-B265-596E346A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97A1A"/>
                </a:solidFill>
                <a:latin typeface="Calibri"/>
                <a:ea typeface="Calibri"/>
                <a:cs typeface="Calibri"/>
              </a:rPr>
              <a:t>THE PILOT ASK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039D98-0C9C-467E-AA5F-88A1F4A3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B2420"/>
                </a:solidFill>
                <a:latin typeface="Cambria"/>
                <a:ea typeface="Cambria"/>
                <a:cs typeface="Cambria"/>
              </a:rPr>
              <a:t>Six months · two districts · three cohorts · 500 enterprises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07DFAD3-18E5-4ED8-9C1A-A0FBA955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" y="16459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63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13187CD-9D50-41F4-B814-50695B1D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" y="164592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C97A1A"/>
                </a:solidFill>
                <a:latin typeface="Cambria"/>
                <a:ea typeface="Cambria"/>
                <a:cs typeface="Cambria"/>
              </a:rPr>
              <a:t>1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654E9B3-86E9-4962-97EA-2234E203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03120"/>
            <a:ext cx="2606040" cy="329184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90FC952-19D4-4D3E-A333-555116E5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96" y="237744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4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c1c1bd26440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41897" y="2451141"/>
            <a:ext cx="419527" cy="419527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03726ED-D5E1-4A15-8388-C3EA1BB1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0–4 weeks</a:t>
            </a:r>
            <a:endParaRPr sz="14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81E911A-F373-403F-8478-D2A93429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0"/>
            <a:ext cx="224028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Partner agreements, DPIA, consent UX, schemas and retrospective extract</a:t>
            </a:r>
            <a:endParaRPr sz="1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12C886F-28E8-48EA-968C-F104F3BB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749040"/>
            <a:ext cx="201168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B60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9C2EFCF-9B42-4408-B4E8-37EF23C6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828" y="16459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63B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ED8EC45-5307-4B44-81C8-B8D4198C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828" y="164592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C97A1A"/>
                </a:solidFill>
                <a:latin typeface="Cambria"/>
                <a:ea typeface="Cambria"/>
                <a:cs typeface="Cambria"/>
              </a:rPr>
              <a:t>2</a:t>
            </a:r>
            <a:endParaRPr sz="20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5A79A07-EB33-40B4-8914-F7F045D6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2103120"/>
            <a:ext cx="2606040" cy="329184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5733C14-B777-496D-9364-D6791BF6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404" y="237744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c5f9b2caa4a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49105" y="2451141"/>
            <a:ext cx="419527" cy="419527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EE6B858-C2B6-472A-9FE4-86A1F335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3063240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5–10 weeks</a:t>
            </a:r>
            <a:endParaRPr sz="14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ECC95137-0EFE-4EF2-A33F-F2996D0B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3474720"/>
            <a:ext cx="224028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Temporal validation, cohort thresholds, officer playbook and red-team tests</a:t>
            </a:r>
            <a:endParaRPr sz="11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8E416EB-AE26-4156-8D7C-B80C9B23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3749040"/>
            <a:ext cx="201168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B60"/>
            </a:solidFill>
            <a:prstDash val="solid"/>
            <a:tailEnd type="triangle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C955673-9E76-4CA2-9060-6A99C60D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036" y="16459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63B"/>
          </a:solidFill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18EA19C1-D61E-48A6-A0C0-D396E10E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036" y="164592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C97A1A"/>
                </a:solidFill>
                <a:latin typeface="Cambria"/>
                <a:ea typeface="Cambria"/>
                <a:cs typeface="Cambria"/>
              </a:rPr>
              <a:t>3</a:t>
            </a:r>
            <a:endParaRPr sz="2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1200AE18-DAB1-4B90-9434-060DA470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2103120"/>
            <a:ext cx="2606040" cy="329184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D3AC4896-14B5-4144-A462-3EEA86A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2612" y="237744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054a7a678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6313" y="2451141"/>
            <a:ext cx="419527" cy="419527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087A80ED-CE8D-4B61-93BF-BC4D8303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3063240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11–18 weeks</a:t>
            </a:r>
            <a:endParaRPr sz="1400"/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354AFDD3-ACF4-4D46-B666-6B62CFA1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474720"/>
            <a:ext cx="224028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Silent-mode alerts · measure coverage, precision/recall, workload and lead time</a:t>
            </a:r>
            <a:endParaRPr sz="1100"/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CB5C464D-10E2-41A7-B96D-D1DEE55D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3749040"/>
            <a:ext cx="201168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B60"/>
            </a:solidFill>
            <a:prstDash val="solid"/>
            <a:tailEnd type="triangle"/>
          </a:ln>
        </p:spPr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52E84D19-341B-4AE9-AB5C-C282E30D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244" y="16459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63B"/>
          </a:solidFill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2BAF94B-8391-472C-9408-6441A136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244" y="164592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C97A1A"/>
                </a:solidFill>
                <a:latin typeface="Cambria"/>
                <a:ea typeface="Cambria"/>
                <a:cs typeface="Cambria"/>
              </a:rPr>
              <a:t>4</a:t>
            </a:r>
            <a:endParaRPr sz="2000"/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856FA0AC-C660-40D6-8898-005D7FE0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64" y="2103120"/>
            <a:ext cx="2606040" cy="329184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EFE6"/>
          </a:solidFill>
        </p:spPr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45466B78-F687-4AEC-81F0-CC189426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820" y="237744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a21b8f5cd4e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3521" y="2451141"/>
            <a:ext cx="419527" cy="419527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5C506408-1F3E-4F6A-A566-08750A09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3063240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2420"/>
                </a:solidFill>
                <a:latin typeface="Calibri"/>
                <a:ea typeface="Calibri"/>
                <a:cs typeface="Calibri"/>
              </a:rPr>
              <a:t>19–26 weeks</a:t>
            </a:r>
            <a:endParaRPr sz="1400"/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38E4F451-E800-4914-ABCE-DC8420AE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3474720"/>
            <a:ext cx="224028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5C6B60"/>
                </a:solidFill>
                <a:latin typeface="Calibri"/>
                <a:ea typeface="Calibri"/>
                <a:cs typeface="Calibri"/>
              </a:rPr>
              <a:t>Controlled maker-checker actions · compare missed payments, consent and officer time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515190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515B7D-E912-4EA9-8DC0-40A304DA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8580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E24"/>
          </a:solidFill>
        </p:spPr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95016fdf24a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888" y="798728"/>
            <a:ext cx="642823" cy="642823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B834889-109D-4DC3-BF46-281B19C4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Help 500 rural enterprises act before stress becomes delinquency</a:t>
            </a:r>
            <a:endParaRPr sz="32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FD563F0-5A5E-4A25-A1E3-DF67B73B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46120"/>
            <a:ext cx="10515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i="1">
                <a:solidFill>
                  <a:srgbClr val="C97A1A"/>
                </a:solidFill>
                <a:latin typeface="Calibri"/>
                <a:ea typeface="Calibri"/>
                <a:cs typeface="Calibri"/>
              </a:rPr>
              <a:t>KisanFlow is ready for retrospective data validation, silent-mode testing and a controlled maker-checker pilot.</a:t>
            </a:r>
            <a:endParaRPr sz="17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777F2E-BF65-46E1-837B-8F1DFBCA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9768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EFEFE6"/>
                </a:solidFill>
                <a:latin typeface="Calibri"/>
                <a:ea typeface="Calibri"/>
                <a:cs typeface="Calibri"/>
              </a:rPr>
              <a:t>ASK · NABARD partner access + 2 districts + 6 months</a:t>
            </a:r>
            <a:endParaRPr sz="15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642CEC6-E637-422B-B5F6-D25EAE9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E24"/>
          </a:solidFill>
        </p:spPr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ea33430e84c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189" y="6036869"/>
            <a:ext cx="270662" cy="270662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5E66594-72EA-4EA9-BA55-43B453AF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989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EFEFE6"/>
                </a:solidFill>
                <a:latin typeface="Calibri"/>
                <a:ea typeface="Calibri"/>
                <a:cs typeface="Calibri"/>
              </a:rPr>
              <a:t>kisanflow-demo-1012823692058.us-east1.run.app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05785193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2026-08-15T17:37:59.4710000Z</dcterms:created>
  <dcterms:modified xsi:type="dcterms:W3CDTF">2026-08-15T17:37:59.4710000Z</dcterms:modified>
</coreProperties>
</file>